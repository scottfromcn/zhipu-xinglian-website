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d2c59f6c464d5c" /><Relationship Type="http://schemas.openxmlformats.org/officeDocument/2006/relationships/extended-properties" Target="/docProps/app.xml" Id="R596a7409f8ad4e20" /><Relationship Type="http://schemas.openxmlformats.org/officeDocument/2006/relationships/officeDocument" Target="/ppt/presentation.xml" Id="R240b5f35113a4b6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54da31c32d44e8"/>
  </p:sldMasterIdLst>
  <p:notesMasterIdLst>
    <p:notesMasterId xmlns:r="http://schemas.openxmlformats.org/officeDocument/2006/relationships" r:id="Rc5062d378b5a477e"/>
  </p:notesMasterIdLst>
  <p:sldIdLst>
    <p:sldId xmlns:r="http://schemas.openxmlformats.org/officeDocument/2006/relationships" id="256" r:id="R7cdd88d7fcfc4a9f"/>
    <p:sldId xmlns:r="http://schemas.openxmlformats.org/officeDocument/2006/relationships" id="257" r:id="R20cba1d0675e46e8"/>
  </p:sldIdLst>
  <p:sldSz cx="15240000" cy="1143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334882b30614013" /><Relationship Type="http://schemas.openxmlformats.org/officeDocument/2006/relationships/slideMaster" Target="/ppt/slideMasters/slideMaster1.xml" Id="R4d54da31c32d44e8" /><Relationship Type="http://schemas.openxmlformats.org/officeDocument/2006/relationships/notesMaster" Target="/ppt/notesMasters/notesMaster1.xml" Id="Rc5062d378b5a477e" /><Relationship Type="http://schemas.openxmlformats.org/officeDocument/2006/relationships/presProps" Target="/ppt/presProps.xml" Id="R358d2684fe954958" /><Relationship Type="http://schemas.openxmlformats.org/officeDocument/2006/relationships/tableStyles" Target="/ppt/tableStyles.xml" Id="R2103f06e70b24d3b" /><Relationship Type="http://schemas.openxmlformats.org/officeDocument/2006/relationships/slide" Target="/ppt/slides/slide1.xml" Id="R7cdd88d7fcfc4a9f" /><Relationship Type="http://schemas.openxmlformats.org/officeDocument/2006/relationships/slide" Target="/ppt/slides/slide2.xml" Id="R20cba1d0675e46e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90e569f47f24c5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78231486c948b3" /><Relationship Type="http://schemas.openxmlformats.org/officeDocument/2006/relationships/notesMaster" Target="/ppt/notesMasters/notesMaster1.xml" Id="Rddcfeeb615ea47e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a8bd3aae58b4ed5" /><Relationship Type="http://schemas.openxmlformats.org/officeDocument/2006/relationships/notesMaster" Target="/ppt/notesMasters/notesMaster1.xml" Id="R858d319d5d80445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内容来自用户确认的 OfficeAI 架构图 v3（docs/diagrams/officeai-components-token-2026-09-29-v3.png）。样式参考 https://bigmodel.cn/glm-coding 。OfficeAI 组件在客户侧私有化可信环境部署，外部模型服务可选。内部模型依赖客户算力与内部额度；外部模型依赖授权、网络与供应商额度。Agent Admin 为治理层，不串入调用链路。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内容基于用户确认的工业智能体架构，按最新要求移除供应商展示。样式参考 https://bigmodel.cn/glm-coding 。三种形态分别接入 TokenHub、Agent Runtime、应用入口/API/Connector。平台交付方式与模型供给互相独立，各方案实际部署支持以评测和适配结果为准。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93e4e4b7d347f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5ce41d90fa44c5f" /><Relationship Type="http://schemas.openxmlformats.org/officeDocument/2006/relationships/slideLayout" Target="/ppt/slideLayouts/slideLayout1.xml" Id="R2806508f038e421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806508f038e42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a36019fb79488e" /><Relationship Type="http://schemas.openxmlformats.org/officeDocument/2006/relationships/notesSlide" Target="/ppt/notesSlides/notesSlide1.xml" Id="R8c70f5d9c4a842c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29495d4c344671" /><Relationship Type="http://schemas.openxmlformats.org/officeDocument/2006/relationships/notesSlide" Target="/ppt/notesSlides/notesSlide2.xml" Id="R9240be54c4b14fd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OfficeAI 办公智能">
            <a:extLst xmlns:a="http://schemas.openxmlformats.org/drawingml/2006/main">
              <a:ext uri="{FF2B5EF4-FFF2-40B4-BE49-F238E27FC236}">
                <a16:creationId xmlns:a16="http://schemas.microsoft.com/office/drawing/2014/main" id="{A2D50B8E-073F-4052-8E36-6ABC36492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1390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600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rPr>
              <a:t>OfficeAI 办公智能</a:t>
            </a:r>
          </a:p>
        </p:txBody>
      </p:sp>
      <p:sp>
        <p:nvSpPr>
          <p:cNvPr id="2" name="组件协同与内外部 Token 供给">
            <a:extLst xmlns:a="http://schemas.openxmlformats.org/drawingml/2006/main">
              <a:ext uri="{FF2B5EF4-FFF2-40B4-BE49-F238E27FC236}">
                <a16:creationId xmlns:a16="http://schemas.microsoft.com/office/drawing/2014/main" id="{52537096-85E1-4A79-BD9D-440E5E002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42975"/>
            <a:ext cx="1400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rPr>
              <a:t>组件协同与内外部 Token 供给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E7AF5E-57EA-4E63-A48F-8F0CB9E8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52575"/>
            <a:ext cx="10763250" cy="8191500"/>
          </a:xfrm>
          <a:prstGeom xmlns:a="http://schemas.openxmlformats.org/drawingml/2006/main" prst="roundRect">
            <a:avLst>
              <a:gd name="adj" fmla="val 930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FE4EE"/>
            </a:solidFill>
          </a:ln>
        </p:spPr>
      </p:sp>
      <p:sp>
        <p:nvSpPr>
          <p:cNvPr id="4" name="客户私有化可信环境">
            <a:extLst xmlns:a="http://schemas.openxmlformats.org/drawingml/2006/main">
              <a:ext uri="{FF2B5EF4-FFF2-40B4-BE49-F238E27FC236}">
                <a16:creationId xmlns:a16="http://schemas.microsoft.com/office/drawing/2014/main" id="{35DD9FF9-1665-41A0-BD5C-61791C7D5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24025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rPr>
              <a:t>客户私有化可信环境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38158D-B373-4CBD-90C2-1AD17FEB1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52675"/>
            <a:ext cx="102298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4EE"/>
            </a:solidFill>
          </a:ln>
        </p:spPr>
      </p:sp>
      <p:sp>
        <p:nvSpPr>
          <p:cNvPr id="6" name="Agent Admin｜智能体管理">
            <a:extLst xmlns:a="http://schemas.openxmlformats.org/drawingml/2006/main">
              <a:ext uri="{FF2B5EF4-FFF2-40B4-BE49-F238E27FC236}">
                <a16:creationId xmlns:a16="http://schemas.microsoft.com/office/drawing/2014/main" id="{DF43F070-85DE-4847-A561-C9C088C83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05075"/>
            <a:ext cx="981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rPr>
              <a:t>Agent Admin｜智能体管理</a:t>
            </a:r>
          </a:p>
        </p:txBody>
      </p:sp>
      <p:sp>
        <p:nvSpPr>
          <p:cNvPr id="7" name="身份权限 · 发布审批 · 执行审计">
            <a:extLst xmlns:a="http://schemas.openxmlformats.org/drawingml/2006/main">
              <a:ext uri="{FF2B5EF4-FFF2-40B4-BE49-F238E27FC236}">
                <a16:creationId xmlns:a16="http://schemas.microsoft.com/office/drawing/2014/main" id="{A97BE10D-6A9E-4035-8F1C-92DDF9A4E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62275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rPr>
              <a:t>身份权限 · 发布审批 · 执行审计</a:t>
            </a:r>
          </a:p>
        </p:txBody>
      </p:sp>
      <p:sp>
        <p:nvSpPr>
          <p:cNvPr id="8" name="治理覆盖全部组件">
            <a:extLst xmlns:a="http://schemas.openxmlformats.org/drawingml/2006/main">
              <a:ext uri="{FF2B5EF4-FFF2-40B4-BE49-F238E27FC236}">
                <a16:creationId xmlns:a16="http://schemas.microsoft.com/office/drawing/2014/main" id="{103B2CE2-5CD3-4A05-AA26-7287C8DC5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52412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rPr>
              <a:t>治理覆盖全部组件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7118E7-D40A-4AE6-A828-D8DECA789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24275"/>
            <a:ext cx="3162300" cy="1362075"/>
          </a:xfrm>
          <a:prstGeom xmlns:a="http://schemas.openxmlformats.org/drawingml/2006/main" prst="roundRect">
            <a:avLst>
              <a:gd name="adj" fmla="val 55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4EE"/>
            </a:solidFill>
          </a:ln>
        </p:spPr>
      </p:sp>
      <p:sp>
        <p:nvSpPr>
          <p:cNvPr id="10" name="SkillHub">
            <a:extLst xmlns:a="http://schemas.openxmlformats.org/drawingml/2006/main">
              <a:ext uri="{FF2B5EF4-FFF2-40B4-BE49-F238E27FC236}">
                <a16:creationId xmlns:a16="http://schemas.microsoft.com/office/drawing/2014/main" id="{558B58D4-2858-4CC3-9D35-99C26A99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274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rPr>
              <a:t>SkillHub</a:t>
            </a:r>
          </a:p>
        </p:txBody>
      </p:sp>
      <p:sp>
        <p:nvSpPr>
          <p:cNvPr id="11" name="企业技能中心">
            <a:extLst xmlns:a="http://schemas.openxmlformats.org/drawingml/2006/main">
              <a:ext uri="{FF2B5EF4-FFF2-40B4-BE49-F238E27FC236}">
                <a16:creationId xmlns:a16="http://schemas.microsoft.com/office/drawing/2014/main" id="{EBE84F66-A523-4EF2-A319-18FA8E90A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33875"/>
            <a:ext cx="2743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rPr>
              <a:t>企业技能中心</a:t>
            </a:r>
          </a:p>
        </p:txBody>
      </p:sp>
      <p:sp>
        <p:nvSpPr>
          <p:cNvPr id="12" name="工作方法 · 版本 · 复用">
            <a:extLst xmlns:a="http://schemas.openxmlformats.org/drawingml/2006/main">
              <a:ext uri="{FF2B5EF4-FFF2-40B4-BE49-F238E27FC236}">
                <a16:creationId xmlns:a16="http://schemas.microsoft.com/office/drawing/2014/main" id="{D9795805-04A0-4974-B0B3-9946BD970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29150"/>
            <a:ext cx="2743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rPr>
              <a:t>工作方法 · 版本 · 复用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877371-F836-4144-952A-53EBDB26B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724275"/>
            <a:ext cx="3162300" cy="1362075"/>
          </a:xfrm>
          <a:prstGeom xmlns:a="http://schemas.openxmlformats.org/drawingml/2006/main" prst="roundRect">
            <a:avLst>
              <a:gd name="adj" fmla="val 55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4EE"/>
            </a:solidFill>
          </a:ln>
        </p:spPr>
      </p:sp>
      <p:sp>
        <p:nvSpPr>
          <p:cNvPr id="14" name="Connectors">
            <a:extLst xmlns:a="http://schemas.openxmlformats.org/drawingml/2006/main">
              <a:ext uri="{FF2B5EF4-FFF2-40B4-BE49-F238E27FC236}">
                <a16:creationId xmlns:a16="http://schemas.microsoft.com/office/drawing/2014/main" id="{B6EB8D71-DA55-488F-8562-2476F869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876675"/>
            <a:ext cx="274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rPr>
              <a:t>Connectors</a:t>
            </a:r>
          </a:p>
        </p:txBody>
      </p:sp>
      <p:sp>
        <p:nvSpPr>
          <p:cNvPr id="15" name="连接 OA、ERP 等已有系统">
            <a:extLst xmlns:a="http://schemas.openxmlformats.org/drawingml/2006/main">
              <a:ext uri="{FF2B5EF4-FFF2-40B4-BE49-F238E27FC236}">
                <a16:creationId xmlns:a16="http://schemas.microsoft.com/office/drawing/2014/main" id="{68819793-432D-49AE-83E3-4920ED320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333875"/>
            <a:ext cx="2743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rPr>
              <a:t>连接 OA、ERP 等已有系统</a:t>
            </a:r>
          </a:p>
        </p:txBody>
      </p:sp>
      <p:sp>
        <p:nvSpPr>
          <p:cNvPr id="16" name="按权限查询与执行业务操作">
            <a:extLst xmlns:a="http://schemas.openxmlformats.org/drawingml/2006/main">
              <a:ext uri="{FF2B5EF4-FFF2-40B4-BE49-F238E27FC236}">
                <a16:creationId xmlns:a16="http://schemas.microsoft.com/office/drawing/2014/main" id="{DE92FEDF-803F-472F-A357-4443545E6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629150"/>
            <a:ext cx="2743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rPr>
              <a:t>按权限查询与执行业务操作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10C6BB-19CA-47BD-8DD0-A691D749B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724275"/>
            <a:ext cx="3162300" cy="1362075"/>
          </a:xfrm>
          <a:prstGeom xmlns:a="http://schemas.openxmlformats.org/drawingml/2006/main" prst="roundRect">
            <a:avLst>
              <a:gd name="adj" fmla="val 55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4EE"/>
            </a:solidFill>
          </a:ln>
        </p:spPr>
      </p:sp>
      <p:sp>
        <p:nvSpPr>
          <p:cNvPr id="18" name="知识库">
            <a:extLst xmlns:a="http://schemas.openxmlformats.org/drawingml/2006/main">
              <a:ext uri="{FF2B5EF4-FFF2-40B4-BE49-F238E27FC236}">
                <a16:creationId xmlns:a16="http://schemas.microsoft.com/office/drawing/2014/main" id="{3E290002-9D33-47FD-8DD7-C8715F320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76675"/>
            <a:ext cx="274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rPr>
              <a:t>知识库</a:t>
            </a:r>
          </a:p>
        </p:txBody>
      </p:sp>
      <p:sp>
        <p:nvSpPr>
          <p:cNvPr id="19" name="组织知识沉淀">
            <a:extLst xmlns:a="http://schemas.openxmlformats.org/drawingml/2006/main">
              <a:ext uri="{FF2B5EF4-FFF2-40B4-BE49-F238E27FC236}">
                <a16:creationId xmlns:a16="http://schemas.microsoft.com/office/drawing/2014/main" id="{C86B6EED-7DCC-464C-A2F3-148D2790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333875"/>
            <a:ext cx="2743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rPr>
              <a:t>组织知识沉淀</a:t>
            </a:r>
          </a:p>
        </p:txBody>
      </p:sp>
      <p:sp>
        <p:nvSpPr>
          <p:cNvPr id="20" name="制度文档 · 检索引用 · 更新">
            <a:extLst xmlns:a="http://schemas.openxmlformats.org/drawingml/2006/main">
              <a:ext uri="{FF2B5EF4-FFF2-40B4-BE49-F238E27FC236}">
                <a16:creationId xmlns:a16="http://schemas.microsoft.com/office/drawing/2014/main" id="{69975367-13A4-4D01-B7C7-CFD899366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29150"/>
            <a:ext cx="2743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rPr>
              <a:t>制度文档 · 检索引用 · 更新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E53C47-53C7-4AFD-91B6-1E0E1D35E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53125"/>
            <a:ext cx="102298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4EE"/>
            </a:solidFill>
          </a:ln>
        </p:spPr>
      </p:sp>
      <p:sp>
        <p:nvSpPr>
          <p:cNvPr id="22" name="OfficeAgent｜员工入口与任务执行">
            <a:extLst xmlns:a="http://schemas.openxmlformats.org/drawingml/2006/main">
              <a:ext uri="{FF2B5EF4-FFF2-40B4-BE49-F238E27FC236}">
                <a16:creationId xmlns:a16="http://schemas.microsoft.com/office/drawing/2014/main" id="{69369D4E-C357-41ED-BCCF-602C3510F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105525"/>
            <a:ext cx="981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rPr>
              <a:t>OfficeAgent｜员工入口与任务执行</a:t>
            </a:r>
          </a:p>
        </p:txBody>
      </p:sp>
      <p:sp>
        <p:nvSpPr>
          <p:cNvPr id="23" name="理解任务 · 调用技能与工具 · 形成成果">
            <a:extLst xmlns:a="http://schemas.openxmlformats.org/drawingml/2006/main">
              <a:ext uri="{FF2B5EF4-FFF2-40B4-BE49-F238E27FC236}">
                <a16:creationId xmlns:a16="http://schemas.microsoft.com/office/drawing/2014/main" id="{0BB66537-38B9-405C-8DDC-A9D70ED64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562725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rPr>
              <a:t>理解任务 · 调用技能与工具 · 形成成果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86B747-5FB7-41BB-870B-DA72B83A7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953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ED8BEB-9ED9-4A56-8621-EBCFC7256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086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8" name=""/>
          <p:cNvCxnSpPr>
            <a:stCxn xmlns:a="http://schemas.openxmlformats.org/drawingml/2006/main" id="24" idx="0"/>
            <a:endCxn xmlns:a="http://schemas.openxmlformats.org/drawingml/2006/main" id="25" idx="2"/>
          </p:cNvCxnSpPr>
          <p:nvPr/>
        </p:nvCxnSpPr>
        <p:spPr>
          <a:xfrm xmlns:a="http://schemas.openxmlformats.org/drawingml/2006/main" flipV="1">
            <a:off x="2305527" y="5087303"/>
            <a:ext cx="0" cy="865822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4CFF"/>
            </a:solidFill>
            <a:prstDash val="solid"/>
            <a:tailEnd type="triangle" w="med" len="med"/>
          </a:ln>
        </p:spPr>
      </p:cxnSp>
      <p:sp>
        <p:nvSpPr>
          <p:cNvPr id="27" name="使用技能">
            <a:extLst xmlns:a="http://schemas.openxmlformats.org/drawingml/2006/main">
              <a:ext uri="{FF2B5EF4-FFF2-40B4-BE49-F238E27FC236}">
                <a16:creationId xmlns:a16="http://schemas.microsoft.com/office/drawing/2014/main" id="{7D8AAF45-1165-47EE-9364-8E8BB56CC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5429250"/>
            <a:ext cx="1285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34C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34CFF"/>
                </a:solidFill>
                <a:latin typeface="Arial Unicode MS"/>
                <a:ea typeface="Arial Unicode MS"/>
                <a:cs typeface="Arial Unicode MS"/>
              </a:rPr>
              <a:t>使用技能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DE2B0E-B21A-4A71-BAE3-FBF08915E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5953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F2F391-8A45-4122-A767-8C349BBE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5086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2" name=""/>
          <p:cNvCxnSpPr>
            <a:stCxn xmlns:a="http://schemas.openxmlformats.org/drawingml/2006/main" id="28" idx="0"/>
            <a:endCxn xmlns:a="http://schemas.openxmlformats.org/drawingml/2006/main" id="29" idx="2"/>
          </p:cNvCxnSpPr>
          <p:nvPr/>
        </p:nvCxnSpPr>
        <p:spPr>
          <a:xfrm xmlns:a="http://schemas.openxmlformats.org/drawingml/2006/main" flipV="1">
            <a:off x="5839302" y="5087303"/>
            <a:ext cx="0" cy="865822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4CFF"/>
            </a:solidFill>
            <a:prstDash val="solid"/>
            <a:tailEnd type="triangle" w="med" len="med"/>
          </a:ln>
        </p:spPr>
      </p:cxnSp>
      <p:sp>
        <p:nvSpPr>
          <p:cNvPr id="31" name="调用系统">
            <a:extLst xmlns:a="http://schemas.openxmlformats.org/drawingml/2006/main">
              <a:ext uri="{FF2B5EF4-FFF2-40B4-BE49-F238E27FC236}">
                <a16:creationId xmlns:a16="http://schemas.microsoft.com/office/drawing/2014/main" id="{88955EFD-C67D-42AA-A1A3-3204C448F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429250"/>
            <a:ext cx="1285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34C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34CFF"/>
                </a:solidFill>
                <a:latin typeface="Arial Unicode MS"/>
                <a:ea typeface="Arial Unicode MS"/>
                <a:cs typeface="Arial Unicode MS"/>
              </a:rPr>
              <a:t>调用系统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D4A951-7A63-48F7-8469-AC721F8E5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953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77621F4-C30D-41CA-83F4-4D21C5896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086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6" name=""/>
          <p:cNvCxnSpPr>
            <a:stCxn xmlns:a="http://schemas.openxmlformats.org/drawingml/2006/main" id="32" idx="0"/>
            <a:endCxn xmlns:a="http://schemas.openxmlformats.org/drawingml/2006/main" id="33" idx="2"/>
          </p:cNvCxnSpPr>
          <p:nvPr/>
        </p:nvCxnSpPr>
        <p:spPr>
          <a:xfrm xmlns:a="http://schemas.openxmlformats.org/drawingml/2006/main" flipV="1">
            <a:off x="9373077" y="5087303"/>
            <a:ext cx="0" cy="865822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4CFF"/>
            </a:solidFill>
            <a:prstDash val="solid"/>
            <a:tailEnd type="triangle" w="med" len="med"/>
          </a:ln>
        </p:spPr>
      </p:cxnSp>
      <p:sp>
        <p:nvSpPr>
          <p:cNvPr id="35" name="检索知识">
            <a:extLst xmlns:a="http://schemas.openxmlformats.org/drawingml/2006/main">
              <a:ext uri="{FF2B5EF4-FFF2-40B4-BE49-F238E27FC236}">
                <a16:creationId xmlns:a16="http://schemas.microsoft.com/office/drawing/2014/main" id="{9DFA17EF-F48E-49A5-8742-BE0A2B21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5429250"/>
            <a:ext cx="1285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34C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34CFF"/>
                </a:solidFill>
                <a:latin typeface="Arial Unicode MS"/>
                <a:ea typeface="Arial Unicode MS"/>
                <a:cs typeface="Arial Unicode MS"/>
              </a:rPr>
              <a:t>检索知识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8923DAA-CCFF-4DE2-B306-5CC6BDBF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58125"/>
            <a:ext cx="3333750" cy="1552575"/>
          </a:xfrm>
          <a:prstGeom xmlns:a="http://schemas.openxmlformats.org/drawingml/2006/main" prst="roundRect">
            <a:avLst>
              <a:gd name="adj" fmla="val 49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4EE"/>
            </a:solidFill>
          </a:ln>
        </p:spPr>
      </p:sp>
      <p:sp>
        <p:nvSpPr>
          <p:cNvPr id="37" name="私有模型服务">
            <a:extLst xmlns:a="http://schemas.openxmlformats.org/drawingml/2006/main">
              <a:ext uri="{FF2B5EF4-FFF2-40B4-BE49-F238E27FC236}">
                <a16:creationId xmlns:a16="http://schemas.microsoft.com/office/drawing/2014/main" id="{BE00912C-CCB7-4BDA-8D16-5898843F6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8010525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rPr>
              <a:t>私有模型服务</a:t>
            </a:r>
          </a:p>
        </p:txBody>
      </p:sp>
      <p:sp>
        <p:nvSpPr>
          <p:cNvPr id="38" name="客户自有 / 专属算力部署">
            <a:extLst xmlns:a="http://schemas.openxmlformats.org/drawingml/2006/main">
              <a:ext uri="{FF2B5EF4-FFF2-40B4-BE49-F238E27FC236}">
                <a16:creationId xmlns:a16="http://schemas.microsoft.com/office/drawing/2014/main" id="{DD2A728E-E8C2-483B-9147-E68C7F602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8467725"/>
            <a:ext cx="2914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rPr>
              <a:t>客户自有 / 专属算力部署</a:t>
            </a:r>
          </a:p>
        </p:txBody>
      </p:sp>
      <p:sp>
        <p:nvSpPr>
          <p:cNvPr id="39" name="数据内部处理 · 内部额度核算">
            <a:extLst xmlns:a="http://schemas.openxmlformats.org/drawingml/2006/main">
              <a:ext uri="{FF2B5EF4-FFF2-40B4-BE49-F238E27FC236}">
                <a16:creationId xmlns:a16="http://schemas.microsoft.com/office/drawing/2014/main" id="{802F39CE-0A5E-43F6-9316-8FE928B7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8763000"/>
            <a:ext cx="2914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rPr>
              <a:t>数据内部处理 · 内部额度核算</a:t>
            </a:r>
          </a:p>
        </p:txBody>
      </p:sp>
      <p:sp>
        <p:nvSpPr>
          <p:cNvPr id="40" name="内部 Token">
            <a:extLst xmlns:a="http://schemas.openxmlformats.org/drawingml/2006/main">
              <a:ext uri="{FF2B5EF4-FFF2-40B4-BE49-F238E27FC236}">
                <a16:creationId xmlns:a16="http://schemas.microsoft.com/office/drawing/2014/main" id="{1D5D720A-6B53-4CBD-B624-5ED89397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524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34C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34CFF"/>
                </a:solidFill>
                <a:latin typeface="Arial Unicode MS"/>
                <a:ea typeface="Arial Unicode MS"/>
                <a:cs typeface="Arial Unicode MS"/>
              </a:rPr>
              <a:t>内部 Token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4BEC5E4-BBDB-4274-949E-44AA55363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7858125"/>
            <a:ext cx="4476750" cy="1552575"/>
          </a:xfrm>
          <a:prstGeom xmlns:a="http://schemas.openxmlformats.org/drawingml/2006/main" prst="roundRect">
            <a:avLst>
              <a:gd name="adj" fmla="val 49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4EE"/>
            </a:solidFill>
          </a:ln>
        </p:spPr>
      </p:sp>
      <p:sp>
        <p:nvSpPr>
          <p:cNvPr id="42" name="TokenHub｜统一模型入口">
            <a:extLst xmlns:a="http://schemas.openxmlformats.org/drawingml/2006/main">
              <a:ext uri="{FF2B5EF4-FFF2-40B4-BE49-F238E27FC236}">
                <a16:creationId xmlns:a16="http://schemas.microsoft.com/office/drawing/2014/main" id="{822944B1-E6F9-477F-913B-3FE1F0259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8010525"/>
            <a:ext cx="405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rPr>
              <a:t>TokenHub｜统一模型入口</a:t>
            </a:r>
          </a:p>
        </p:txBody>
      </p:sp>
      <p:sp>
        <p:nvSpPr>
          <p:cNvPr id="43" name="模型选择 · 路由 · 配额">
            <a:extLst xmlns:a="http://schemas.openxmlformats.org/drawingml/2006/main">
              <a:ext uri="{FF2B5EF4-FFF2-40B4-BE49-F238E27FC236}">
                <a16:creationId xmlns:a16="http://schemas.microsoft.com/office/drawing/2014/main" id="{F3EBEFFD-B50E-4EB0-BC18-4AA3CCB91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8467725"/>
            <a:ext cx="4057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rPr>
              <a:t>模型选择 · 路由 · 配额</a:t>
            </a:r>
          </a:p>
        </p:txBody>
      </p:sp>
      <p:sp>
        <p:nvSpPr>
          <p:cNvPr id="44" name="用量计量 · 调用审计">
            <a:extLst xmlns:a="http://schemas.openxmlformats.org/drawingml/2006/main">
              <a:ext uri="{FF2B5EF4-FFF2-40B4-BE49-F238E27FC236}">
                <a16:creationId xmlns:a16="http://schemas.microsoft.com/office/drawing/2014/main" id="{CF0DFA8E-9E37-4488-AEDB-29D25057A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8763000"/>
            <a:ext cx="4057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rPr>
              <a:t>用量计量 · 调用审计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FDAA122-D1B2-40EF-AF58-72D3D3B2D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6953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422ED26-F227-4508-92FB-8149207B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7858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9" name=""/>
          <p:cNvCxnSpPr>
            <a:stCxn xmlns:a="http://schemas.openxmlformats.org/drawingml/2006/main" id="45" idx="2"/>
            <a:endCxn xmlns:a="http://schemas.openxmlformats.org/drawingml/2006/main" id="46" idx="0"/>
          </p:cNvCxnSpPr>
          <p:nvPr/>
        </p:nvCxnSpPr>
        <p:spPr>
          <a:xfrm xmlns:a="http://schemas.openxmlformats.org/drawingml/2006/main">
            <a:off x="8715852" y="6954203"/>
            <a:ext cx="0" cy="903922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4CFF"/>
            </a:solidFill>
            <a:prstDash val="solid"/>
            <a:tailEnd type="triangle" w="med" len="med"/>
          </a:ln>
        </p:spPr>
      </p:cxnSp>
      <p:sp>
        <p:nvSpPr>
          <p:cNvPr id="48" name="模型调用">
            <a:extLst xmlns:a="http://schemas.openxmlformats.org/drawingml/2006/main">
              <a:ext uri="{FF2B5EF4-FFF2-40B4-BE49-F238E27FC236}">
                <a16:creationId xmlns:a16="http://schemas.microsoft.com/office/drawing/2014/main" id="{304BCACB-D831-4E25-83E2-D64E8FD44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72675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34C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34CFF"/>
                </a:solidFill>
                <a:latin typeface="Arial Unicode MS"/>
                <a:ea typeface="Arial Unicode MS"/>
                <a:cs typeface="Arial Unicode MS"/>
              </a:rPr>
              <a:t>模型调用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7ABDC5C-63E0-46B8-AE31-5E131C508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8629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92ADDF2-CC67-466E-BE1A-3E3C029C2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8629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3" name=""/>
          <p:cNvCxnSpPr>
            <a:stCxn xmlns:a="http://schemas.openxmlformats.org/drawingml/2006/main" id="49" idx="1"/>
            <a:endCxn xmlns:a="http://schemas.openxmlformats.org/drawingml/2006/main" id="50" idx="3"/>
          </p:cNvCxnSpPr>
          <p:nvPr/>
        </p:nvCxnSpPr>
        <p:spPr>
          <a:xfrm xmlns:a="http://schemas.openxmlformats.org/drawingml/2006/main" flipH="1">
            <a:off x="4058603" y="8630127"/>
            <a:ext cx="2418397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4CFF"/>
            </a:solidFill>
            <a:prstDash val="solid"/>
            <a:tailEnd type="triangle" w="med" len="med"/>
          </a:ln>
        </p:spPr>
      </p:cxnSp>
      <p:sp>
        <p:nvSpPr>
          <p:cNvPr id="52" name="敏感任务仅内部">
            <a:extLst xmlns:a="http://schemas.openxmlformats.org/drawingml/2006/main">
              <a:ext uri="{FF2B5EF4-FFF2-40B4-BE49-F238E27FC236}">
                <a16:creationId xmlns:a16="http://schemas.microsoft.com/office/drawing/2014/main" id="{7E59554F-2F0C-467C-A02D-1F0EDEA31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82486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34C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34CFF"/>
                </a:solidFill>
                <a:latin typeface="Arial Unicode MS"/>
                <a:ea typeface="Arial Unicode MS"/>
                <a:cs typeface="Arial Unicode MS"/>
              </a:rPr>
              <a:t>敏感任务仅内部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8C3F322-06BA-4891-B4DF-B39DE5930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7858125"/>
            <a:ext cx="2362200" cy="1552575"/>
          </a:xfrm>
          <a:prstGeom xmlns:a="http://schemas.openxmlformats.org/drawingml/2006/main" prst="roundRect">
            <a:avLst>
              <a:gd name="adj" fmla="val 49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4EE"/>
            </a:solidFill>
          </a:ln>
        </p:spPr>
      </p:sp>
      <p:sp>
        <p:nvSpPr>
          <p:cNvPr id="54" name="SaaS 模型 API">
            <a:extLst xmlns:a="http://schemas.openxmlformats.org/drawingml/2006/main">
              <a:ext uri="{FF2B5EF4-FFF2-40B4-BE49-F238E27FC236}">
                <a16:creationId xmlns:a16="http://schemas.microsoft.com/office/drawing/2014/main" id="{449BB4B8-4C91-4CE2-972B-83AF51453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8010525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rPr>
              <a:t>SaaS 模型 API</a:t>
            </a:r>
          </a:p>
        </p:txBody>
      </p:sp>
      <p:sp>
        <p:nvSpPr>
          <p:cNvPr id="55" name="经授权的外部服务">
            <a:extLst xmlns:a="http://schemas.openxmlformats.org/drawingml/2006/main">
              <a:ext uri="{FF2B5EF4-FFF2-40B4-BE49-F238E27FC236}">
                <a16:creationId xmlns:a16="http://schemas.microsoft.com/office/drawing/2014/main" id="{36750DEA-2000-46C7-96AC-4C3EA3FEE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8467725"/>
            <a:ext cx="1943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rPr>
              <a:t>经授权的外部服务</a:t>
            </a:r>
          </a:p>
        </p:txBody>
      </p:sp>
      <p:sp>
        <p:nvSpPr>
          <p:cNvPr id="56" name="外部额度 / 按调用计费">
            <a:extLst xmlns:a="http://schemas.openxmlformats.org/drawingml/2006/main">
              <a:ext uri="{FF2B5EF4-FFF2-40B4-BE49-F238E27FC236}">
                <a16:creationId xmlns:a16="http://schemas.microsoft.com/office/drawing/2014/main" id="{BAED7CAA-E60C-4B82-86ED-504B69D1A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8763000"/>
            <a:ext cx="1943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rPr>
              <a:t>外部额度 / 按调用计费</a:t>
            </a:r>
          </a:p>
        </p:txBody>
      </p:sp>
      <p:sp>
        <p:nvSpPr>
          <p:cNvPr id="57" name="外部 Token · 可选">
            <a:extLst xmlns:a="http://schemas.openxmlformats.org/drawingml/2006/main">
              <a:ext uri="{FF2B5EF4-FFF2-40B4-BE49-F238E27FC236}">
                <a16:creationId xmlns:a16="http://schemas.microsoft.com/office/drawing/2014/main" id="{DC3A8257-17CB-498B-BBBD-B7A21163A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74866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4C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34CFF"/>
                </a:solidFill>
                <a:latin typeface="Arial Unicode MS"/>
                <a:ea typeface="Arial Unicode MS"/>
                <a:cs typeface="Arial Unicode MS"/>
              </a:rPr>
              <a:t>外部 Token · 可选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9C98589-8E01-4EB9-AED4-E8D4800BD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8629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8A28D94-48F7-48C8-806B-4C8281B7B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8629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2" name=""/>
          <p:cNvCxnSpPr>
            <a:stCxn xmlns:a="http://schemas.openxmlformats.org/drawingml/2006/main" id="58" idx="3"/>
            <a:endCxn xmlns:a="http://schemas.openxmlformats.org/drawingml/2006/main" id="59" idx="1"/>
          </p:cNvCxnSpPr>
          <p:nvPr/>
        </p:nvCxnSpPr>
        <p:spPr>
          <a:xfrm xmlns:a="http://schemas.openxmlformats.org/drawingml/2006/main">
            <a:off x="10954703" y="8630127"/>
            <a:ext cx="1465897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4CFF"/>
            </a:solidFill>
            <a:prstDash val="solid"/>
            <a:tailEnd type="triangle" w="med" len="med"/>
          </a:ln>
        </p:spPr>
      </p:cxnSp>
      <p:sp>
        <p:nvSpPr>
          <p:cNvPr id="61" name="允许外发">
            <a:extLst xmlns:a="http://schemas.openxmlformats.org/drawingml/2006/main">
              <a:ext uri="{FF2B5EF4-FFF2-40B4-BE49-F238E27FC236}">
                <a16:creationId xmlns:a16="http://schemas.microsoft.com/office/drawing/2014/main" id="{121E27F0-5CB7-4896-BBEA-AAAB04D3C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8086725"/>
            <a:ext cx="1190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34C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34CFF"/>
                </a:solidFill>
                <a:latin typeface="Arial Unicode MS"/>
                <a:ea typeface="Arial Unicode MS"/>
                <a:cs typeface="Arial Unicode MS"/>
              </a:rPr>
              <a:t>允许外发</a:t>
            </a:r>
          </a:p>
        </p:txBody>
      </p:sp>
      <p:sp>
        <p:nvSpPr>
          <p:cNvPr id="62" name="+ 已授权">
            <a:extLst xmlns:a="http://schemas.openxmlformats.org/drawingml/2006/main">
              <a:ext uri="{FF2B5EF4-FFF2-40B4-BE49-F238E27FC236}">
                <a16:creationId xmlns:a16="http://schemas.microsoft.com/office/drawing/2014/main" id="{33EE2346-4EF9-4AC3-B774-EBA8392A6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8343900"/>
            <a:ext cx="1190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34C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134CFF"/>
                </a:solidFill>
                <a:latin typeface="Arial Unicode MS"/>
                <a:ea typeface="Arial Unicode MS"/>
                <a:cs typeface="Arial Unicode MS"/>
              </a:rPr>
              <a:t>+ 已授权</a:t>
            </a:r>
          </a:p>
        </p:txBody>
      </p:sp>
      <p:sp>
        <p:nvSpPr>
          <p:cNvPr id="63" name="调用前检查策略">
            <a:extLst xmlns:a="http://schemas.openxmlformats.org/drawingml/2006/main">
              <a:ext uri="{FF2B5EF4-FFF2-40B4-BE49-F238E27FC236}">
                <a16:creationId xmlns:a16="http://schemas.microsoft.com/office/drawing/2014/main" id="{AE6ECF9A-8065-4A47-9E44-E00C5A17C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621982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rPr>
              <a:t>调用前检查策略</a:t>
            </a:r>
          </a:p>
        </p:txBody>
      </p:sp>
      <p:sp>
        <p:nvSpPr>
          <p:cNvPr id="64" name="与必要脱敏">
            <a:extLst xmlns:a="http://schemas.openxmlformats.org/drawingml/2006/main">
              <a:ext uri="{FF2B5EF4-FFF2-40B4-BE49-F238E27FC236}">
                <a16:creationId xmlns:a16="http://schemas.microsoft.com/office/drawing/2014/main" id="{5C27FA1E-B671-4117-A807-35496DE4B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654367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rPr>
              <a:t>与必要脱敏</a:t>
            </a:r>
          </a:p>
        </p:txBody>
      </p:sp>
      <p:sp>
        <p:nvSpPr>
          <p:cNvPr id="65" name="支持仅使用内部模型">
            <a:extLst xmlns:a="http://schemas.openxmlformats.org/drawingml/2006/main">
              <a:ext uri="{FF2B5EF4-FFF2-40B4-BE49-F238E27FC236}">
                <a16:creationId xmlns:a16="http://schemas.microsoft.com/office/drawing/2014/main" id="{310E930C-FE27-48F5-8467-0DF6B1B9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694372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rPr>
              <a:t>支持仅使用内部模型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667AE8D-CE38-4038-87F4-D674A227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915525"/>
            <a:ext cx="14325600" cy="752475"/>
          </a:xfrm>
          <a:prstGeom xmlns:a="http://schemas.openxmlformats.org/drawingml/2006/main" prst="roundRect">
            <a:avLst>
              <a:gd name="adj" fmla="val 101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4EE"/>
            </a:solidFill>
          </a:ln>
        </p:spPr>
      </p:sp>
      <p:sp>
        <p:nvSpPr>
          <p:cNvPr id="67" name="业务可信">
            <a:extLst xmlns:a="http://schemas.openxmlformats.org/drawingml/2006/main">
              <a:ext uri="{FF2B5EF4-FFF2-40B4-BE49-F238E27FC236}">
                <a16:creationId xmlns:a16="http://schemas.microsoft.com/office/drawing/2014/main" id="{1EDF693C-0CA4-43D6-B19A-F0E9DA6AA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107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rPr>
              <a:t>业务可信</a:t>
            </a:r>
          </a:p>
        </p:txBody>
      </p:sp>
      <p:sp>
        <p:nvSpPr>
          <p:cNvPr id="68" name="场景评测 · 依据溯源 · 人工复核">
            <a:extLst xmlns:a="http://schemas.openxmlformats.org/drawingml/2006/main">
              <a:ext uri="{FF2B5EF4-FFF2-40B4-BE49-F238E27FC236}">
                <a16:creationId xmlns:a16="http://schemas.microsoft.com/office/drawing/2014/main" id="{CCB8576E-9058-4D51-B596-F449556FF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325100"/>
            <a:ext cx="647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rPr>
              <a:t>场景评测 · 依据溯源 · 人工复核</a:t>
            </a:r>
          </a:p>
        </p:txBody>
      </p:sp>
      <p:sp>
        <p:nvSpPr>
          <p:cNvPr id="69" name="数据安全可信">
            <a:extLst xmlns:a="http://schemas.openxmlformats.org/drawingml/2006/main">
              <a:ext uri="{FF2B5EF4-FFF2-40B4-BE49-F238E27FC236}">
                <a16:creationId xmlns:a16="http://schemas.microsoft.com/office/drawing/2014/main" id="{11778C10-8290-4D3A-B2A5-FF8EDA58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0010775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rPr>
              <a:t>数据安全可信</a:t>
            </a:r>
          </a:p>
        </p:txBody>
      </p:sp>
      <p:sp>
        <p:nvSpPr>
          <p:cNvPr id="70" name="可信环境 · 最小权限 · 数据边界">
            <a:extLst xmlns:a="http://schemas.openxmlformats.org/drawingml/2006/main">
              <a:ext uri="{FF2B5EF4-FFF2-40B4-BE49-F238E27FC236}">
                <a16:creationId xmlns:a16="http://schemas.microsoft.com/office/drawing/2014/main" id="{5401BA7C-4C14-4C31-9CE9-4A7191DBC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0325100"/>
            <a:ext cx="657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rPr>
              <a:t>可信环境 · 最小权限 · 数据边界</a:t>
            </a:r>
          </a:p>
        </p:txBody>
      </p:sp>
      <p:sp>
        <p:nvSpPr>
          <p:cNvPr id="71" name="箭头表示调用请求方向，响应返回省略。">
            <a:extLst xmlns:a="http://schemas.openxmlformats.org/drawingml/2006/main">
              <a:ext uri="{FF2B5EF4-FFF2-40B4-BE49-F238E27FC236}">
                <a16:creationId xmlns:a16="http://schemas.microsoft.com/office/drawing/2014/main" id="{7F9EF04E-E671-45A2-9EEC-FC00EB1D2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791825"/>
            <a:ext cx="1400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rPr>
              <a:t>箭头表示调用请求方向，响应返回省略。</a:t>
            </a:r>
          </a:p>
        </p:txBody>
      </p:sp>
      <p:sp>
        <p:nvSpPr>
          <p:cNvPr id="72" name="Token 是模型推理用量；API Key 是访问凭据，由 ">
            <a:extLst xmlns:a="http://schemas.openxmlformats.org/drawingml/2006/main">
              <a:ext uri="{FF2B5EF4-FFF2-40B4-BE49-F238E27FC236}">
                <a16:creationId xmlns:a16="http://schemas.microsoft.com/office/drawing/2014/main" id="{42783E31-403E-4B02-BE6D-F73E5B80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68050"/>
            <a:ext cx="1419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rPr>
              <a:t>Token 是模型推理用量；API Key 是访问凭据，由 TokenHub 统一管理。</a:t>
            </a:r>
          </a:p>
        </p:txBody>
      </p:sp>
    </p:spTree>
    <p:extLst>
      <p:ext uri="{BB962C8B-B14F-4D97-AF65-F5344CB8AC3E}">
        <p14:creationId xmlns:p14="http://schemas.microsoft.com/office/powerpoint/2010/main" val="13280882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6" name="工业智能体平台">
            <a:extLst xmlns:a="http://schemas.openxmlformats.org/drawingml/2006/main">
              <a:ext uri="{FF2B5EF4-FFF2-40B4-BE49-F238E27FC236}">
                <a16:creationId xmlns:a16="http://schemas.microsoft.com/office/drawing/2014/main" id="{7DC4F169-98A3-4296-B444-700F0038F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1390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600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rPr>
              <a:t>工业智能体平台</a:t>
            </a:r>
          </a:p>
        </p:txBody>
      </p:sp>
      <p:sp>
        <p:nvSpPr>
          <p:cNvPr id="2" name="三种方案形态 · 统一评测接入 · 两种部署方式">
            <a:extLst xmlns:a="http://schemas.openxmlformats.org/drawingml/2006/main">
              <a:ext uri="{FF2B5EF4-FFF2-40B4-BE49-F238E27FC236}">
                <a16:creationId xmlns:a16="http://schemas.microsoft.com/office/drawing/2014/main" id="{6DED2B1A-C30F-4C68-A352-CFA5CC054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42975"/>
            <a:ext cx="1400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rPr>
              <a:t>三种方案形态 · 统一评测接入 · 两种部署方式</a:t>
            </a:r>
          </a:p>
        </p:txBody>
      </p:sp>
      <p:sp>
        <p:nvSpPr>
          <p:cNvPr id="3" name="方案形态与接入">
            <a:extLst xmlns:a="http://schemas.openxmlformats.org/drawingml/2006/main">
              <a:ext uri="{FF2B5EF4-FFF2-40B4-BE49-F238E27FC236}">
                <a16:creationId xmlns:a16="http://schemas.microsoft.com/office/drawing/2014/main" id="{A14EF1BC-422D-4902-AEE3-DC6FA3828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428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rPr>
              <a:t>方案形态与接入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0DF1D8-ED79-459F-8A88-8EA16CF3C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6900"/>
            <a:ext cx="4381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4EE"/>
            </a:solidFill>
          </a:ln>
        </p:spPr>
      </p:sp>
      <p:sp>
        <p:nvSpPr>
          <p:cNvPr id="5" name="专业模型">
            <a:extLst xmlns:a="http://schemas.openxmlformats.org/drawingml/2006/main">
              <a:ext uri="{FF2B5EF4-FFF2-40B4-BE49-F238E27FC236}">
                <a16:creationId xmlns:a16="http://schemas.microsoft.com/office/drawing/2014/main" id="{4BAB33D0-BB7B-43C4-99B1-119F93395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19300"/>
            <a:ext cx="3962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rPr>
              <a:t>专业模型</a:t>
            </a:r>
          </a:p>
        </p:txBody>
      </p:sp>
      <p:sp>
        <p:nvSpPr>
          <p:cNvPr id="6" name="行业推理 · 识别 · 预测">
            <a:extLst xmlns:a="http://schemas.openxmlformats.org/drawingml/2006/main">
              <a:ext uri="{FF2B5EF4-FFF2-40B4-BE49-F238E27FC236}">
                <a16:creationId xmlns:a16="http://schemas.microsoft.com/office/drawing/2014/main" id="{15571C5C-4DB4-4FB2-8ACB-954EEA540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3962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rPr>
              <a:t>行业推理 · 识别 · 预测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C331BE-607C-4D73-90BB-6C2C3462D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866900"/>
            <a:ext cx="4381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4EE"/>
            </a:solidFill>
          </a:ln>
        </p:spPr>
      </p:sp>
      <p:sp>
        <p:nvSpPr>
          <p:cNvPr id="8" name="工业智能体">
            <a:extLst xmlns:a="http://schemas.openxmlformats.org/drawingml/2006/main">
              <a:ext uri="{FF2B5EF4-FFF2-40B4-BE49-F238E27FC236}">
                <a16:creationId xmlns:a16="http://schemas.microsoft.com/office/drawing/2014/main" id="{11524D87-075B-4DE0-AD1E-D5622FEA3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019300"/>
            <a:ext cx="3962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rPr>
              <a:t>工业智能体</a:t>
            </a:r>
          </a:p>
        </p:txBody>
      </p:sp>
      <p:sp>
        <p:nvSpPr>
          <p:cNvPr id="9" name="面向特定业务任务的 Agent">
            <a:extLst xmlns:a="http://schemas.openxmlformats.org/drawingml/2006/main">
              <a:ext uri="{FF2B5EF4-FFF2-40B4-BE49-F238E27FC236}">
                <a16:creationId xmlns:a16="http://schemas.microsoft.com/office/drawing/2014/main" id="{51D14500-F611-4E2C-B5C7-D3C5BD35B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476500"/>
            <a:ext cx="3962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rPr>
              <a:t>面向特定业务任务的 Agent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6AF494-E443-4EE3-97A3-81F63788D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1866900"/>
            <a:ext cx="4381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4EE"/>
            </a:solidFill>
          </a:ln>
        </p:spPr>
      </p:sp>
      <p:sp>
        <p:nvSpPr>
          <p:cNvPr id="11" name="完整业务应用">
            <a:extLst xmlns:a="http://schemas.openxmlformats.org/drawingml/2006/main">
              <a:ext uri="{FF2B5EF4-FFF2-40B4-BE49-F238E27FC236}">
                <a16:creationId xmlns:a16="http://schemas.microsoft.com/office/drawing/2014/main" id="{042228F2-C095-4DB4-A2A9-14CFAFE50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019300"/>
            <a:ext cx="3962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rPr>
              <a:t>完整业务应用</a:t>
            </a:r>
          </a:p>
        </p:txBody>
      </p:sp>
      <p:sp>
        <p:nvSpPr>
          <p:cNvPr id="12" name="自带界面 · 流程 · 业务逻辑">
            <a:extLst xmlns:a="http://schemas.openxmlformats.org/drawingml/2006/main">
              <a:ext uri="{FF2B5EF4-FFF2-40B4-BE49-F238E27FC236}">
                <a16:creationId xmlns:a16="http://schemas.microsoft.com/office/drawing/2014/main" id="{24C2445B-DA5F-44A0-9344-2DB6BBBE6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476500"/>
            <a:ext cx="3962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rPr>
              <a:t>自带界面 · 流程 · 业务逻辑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5C3A01-CBE5-427F-AA92-8DC11C8E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95625"/>
            <a:ext cx="143256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DF1F8"/>
          </a:solidFill>
          <a:ln xmlns:a="http://schemas.openxmlformats.org/drawingml/2006/main" w="9525">
            <a:solidFill>
              <a:srgbClr val="DFE4EE"/>
            </a:solidFill>
          </a:ln>
        </p:spPr>
      </p:sp>
      <p:sp>
        <p:nvSpPr>
          <p:cNvPr id="14" name="场景评测">
            <a:extLst xmlns:a="http://schemas.openxmlformats.org/drawingml/2006/main">
              <a:ext uri="{FF2B5EF4-FFF2-40B4-BE49-F238E27FC236}">
                <a16:creationId xmlns:a16="http://schemas.microsoft.com/office/drawing/2014/main" id="{66CC2DB5-DC7C-4F92-98B5-71920872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rPr>
              <a:t>场景评测</a:t>
            </a:r>
          </a:p>
        </p:txBody>
      </p:sp>
      <p:sp>
        <p:nvSpPr>
          <p:cNvPr id="15" name="真实任务与验收标准｜效果 · 安全 · 时延 · 成本 · ">
            <a:extLst xmlns:a="http://schemas.openxmlformats.org/drawingml/2006/main">
              <a:ext uri="{FF2B5EF4-FFF2-40B4-BE49-F238E27FC236}">
                <a16:creationId xmlns:a16="http://schemas.microsoft.com/office/drawing/2014/main" id="{8E3923F1-3B1C-46CB-BAA0-C37811D3C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257550"/>
            <a:ext cx="1200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rPr>
              <a:t>真实任务与验收标准｜效果 · 安全 · 时延 · 成本 · 部署适配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EE7872-4332-4C5C-95B1-778AF028E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781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620D22-9080-447D-A9A9-04DB35E75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095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3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2648427" y="2782253"/>
            <a:ext cx="0" cy="313372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590A5"/>
            </a:solidFill>
            <a:prstDash val="dash"/>
            <a:tailEnd type="triangle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E5C688-EFD0-46D9-8CC3-65C6ACAB9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743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3EF5F3-705D-4E22-8099-7DC7CF192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095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6" name=""/>
          <p:cNvCxnSpPr>
            <a:stCxn xmlns:a="http://schemas.openxmlformats.org/drawingml/2006/main" id="19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2648427" y="3744278"/>
            <a:ext cx="0" cy="351472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590A5"/>
            </a:solidFill>
            <a:prstDash val="dash"/>
            <a:tailEnd type="triangle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822F4F-52CE-4C9C-8028-9D5883225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81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8C05CC-C166-42B0-A1EC-0BF4C906C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95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9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7620477" y="2782253"/>
            <a:ext cx="0" cy="313372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590A5"/>
            </a:solidFill>
            <a:prstDash val="dash"/>
            <a:tailEnd type="triangle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B49468-C951-4294-8305-0EDDA7D6D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43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E9A5D6-F673-4F83-8AF5-6C444A33D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95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2" name=""/>
          <p:cNvCxnSpPr>
            <a:stCxn xmlns:a="http://schemas.openxmlformats.org/drawingml/2006/main" id="25" idx="2"/>
            <a:endCxn xmlns:a="http://schemas.openxmlformats.org/drawingml/2006/main" id="26" idx="0"/>
          </p:cNvCxnSpPr>
          <p:nvPr/>
        </p:nvCxnSpPr>
        <p:spPr>
          <a:xfrm xmlns:a="http://schemas.openxmlformats.org/drawingml/2006/main">
            <a:off x="7620477" y="3744278"/>
            <a:ext cx="0" cy="351472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590A5"/>
            </a:solidFill>
            <a:prstDash val="dash"/>
            <a:tailEnd type="triangle" w="med" len="me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40EE89-2168-4076-B3F6-5FA9B9ECB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2781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98188D-F3BB-4D7D-812D-D838070AE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3095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5" name=""/>
          <p:cNvCxnSpPr>
            <a:stCxn xmlns:a="http://schemas.openxmlformats.org/drawingml/2006/main" id="28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12592527" y="2782253"/>
            <a:ext cx="0" cy="313372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590A5"/>
            </a:solidFill>
            <a:prstDash val="dash"/>
            <a:tailEnd type="triangle" w="med" len="me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4E48B2-8186-4F71-91BC-2861076F5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3743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4E8AC7-8355-464D-B3FD-1512724C7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4095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8" name=""/>
          <p:cNvCxnSpPr>
            <a:stCxn xmlns:a="http://schemas.openxmlformats.org/drawingml/2006/main" id="31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>
            <a:off x="12592527" y="3744278"/>
            <a:ext cx="0" cy="351472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590A5"/>
            </a:solidFill>
            <a:prstDash val="dash"/>
            <a:tailEnd type="triangle" w="med" len="me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614535C-DD8E-4A2D-81E7-C7C893F82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0"/>
            <a:ext cx="404812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4EE"/>
            </a:solidFill>
          </a:ln>
        </p:spPr>
      </p:sp>
      <p:sp>
        <p:nvSpPr>
          <p:cNvPr id="35" name="TokenHub">
            <a:extLst xmlns:a="http://schemas.openxmlformats.org/drawingml/2006/main">
              <a:ext uri="{FF2B5EF4-FFF2-40B4-BE49-F238E27FC236}">
                <a16:creationId xmlns:a16="http://schemas.microsoft.com/office/drawing/2014/main" id="{16C5B8E5-AA61-4A36-837C-A1AC92E54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48150"/>
            <a:ext cx="3629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rPr>
              <a:t>TokenHub</a:t>
            </a:r>
          </a:p>
        </p:txBody>
      </p:sp>
      <p:sp>
        <p:nvSpPr>
          <p:cNvPr id="36" name="模型服务接入与统一路由">
            <a:extLst xmlns:a="http://schemas.openxmlformats.org/drawingml/2006/main">
              <a:ext uri="{FF2B5EF4-FFF2-40B4-BE49-F238E27FC236}">
                <a16:creationId xmlns:a16="http://schemas.microsoft.com/office/drawing/2014/main" id="{41C1C777-13BD-4573-8F91-2D52D0CE5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05350"/>
            <a:ext cx="36290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rPr>
              <a:t>模型服务接入与统一路由</a:t>
            </a:r>
          </a:p>
        </p:txBody>
      </p:sp>
      <p:sp>
        <p:nvSpPr>
          <p:cNvPr id="37" name="模型选择 · 配额 · 计量 · 审计">
            <a:extLst xmlns:a="http://schemas.openxmlformats.org/drawingml/2006/main">
              <a:ext uri="{FF2B5EF4-FFF2-40B4-BE49-F238E27FC236}">
                <a16:creationId xmlns:a16="http://schemas.microsoft.com/office/drawing/2014/main" id="{D340DE6F-2858-4BD1-8F69-867FD618A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00625"/>
            <a:ext cx="36290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rPr>
              <a:t>模型选择 · 配额 · 计量 · 审计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31F5CFC-6193-419B-8ABA-7FCECFB3F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95750"/>
            <a:ext cx="376237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4EE"/>
            </a:solidFill>
          </a:ln>
        </p:spPr>
      </p:sp>
      <p:sp>
        <p:nvSpPr>
          <p:cNvPr id="39" name="Agent Runtime">
            <a:extLst xmlns:a="http://schemas.openxmlformats.org/drawingml/2006/main">
              <a:ext uri="{FF2B5EF4-FFF2-40B4-BE49-F238E27FC236}">
                <a16:creationId xmlns:a16="http://schemas.microsoft.com/office/drawing/2014/main" id="{EA08C5B8-79EE-4085-927A-51FD420D9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48150"/>
            <a:ext cx="3343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rPr>
              <a:t>Agent Runtime</a:t>
            </a:r>
          </a:p>
        </p:txBody>
      </p:sp>
      <p:sp>
        <p:nvSpPr>
          <p:cNvPr id="40" name="智能体接入与运行适配">
            <a:extLst xmlns:a="http://schemas.openxmlformats.org/drawingml/2006/main">
              <a:ext uri="{FF2B5EF4-FFF2-40B4-BE49-F238E27FC236}">
                <a16:creationId xmlns:a16="http://schemas.microsoft.com/office/drawing/2014/main" id="{D5574E4A-978C-4192-B5F3-CDADE5C02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705350"/>
            <a:ext cx="33432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rPr>
              <a:t>智能体接入与运行适配</a:t>
            </a:r>
          </a:p>
        </p:txBody>
      </p:sp>
      <p:sp>
        <p:nvSpPr>
          <p:cNvPr id="41" name="任务编排 · 执行监控 · 异常处理">
            <a:extLst xmlns:a="http://schemas.openxmlformats.org/drawingml/2006/main">
              <a:ext uri="{FF2B5EF4-FFF2-40B4-BE49-F238E27FC236}">
                <a16:creationId xmlns:a16="http://schemas.microsoft.com/office/drawing/2014/main" id="{C39EF97A-5C3C-4C83-ABAC-2DC0B7A0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000625"/>
            <a:ext cx="33432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rPr>
              <a:t>任务编排 · 执行监控 · 异常处理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2797149-005C-43B9-A8E7-033A1DE1C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095750"/>
            <a:ext cx="4381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4EE"/>
            </a:solidFill>
          </a:ln>
        </p:spPr>
      </p:sp>
      <p:sp>
        <p:nvSpPr>
          <p:cNvPr id="43" name="应用集成">
            <a:extLst xmlns:a="http://schemas.openxmlformats.org/drawingml/2006/main">
              <a:ext uri="{FF2B5EF4-FFF2-40B4-BE49-F238E27FC236}">
                <a16:creationId xmlns:a16="http://schemas.microsoft.com/office/drawing/2014/main" id="{2E67B67F-75F5-451D-8836-5739A7565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4248150"/>
            <a:ext cx="3962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rPr>
              <a:t>应用集成</a:t>
            </a:r>
          </a:p>
        </p:txBody>
      </p:sp>
      <p:sp>
        <p:nvSpPr>
          <p:cNvPr id="44" name="应用入口 / API / Connector">
            <a:extLst xmlns:a="http://schemas.openxmlformats.org/drawingml/2006/main">
              <a:ext uri="{FF2B5EF4-FFF2-40B4-BE49-F238E27FC236}">
                <a16:creationId xmlns:a16="http://schemas.microsoft.com/office/drawing/2014/main" id="{FA25E4C3-B457-40BF-B0BA-536D6DB34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4705350"/>
            <a:ext cx="3962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rPr>
              <a:t>应用入口 / API / Connector</a:t>
            </a:r>
          </a:p>
        </p:txBody>
      </p:sp>
      <p:sp>
        <p:nvSpPr>
          <p:cNvPr id="45" name="保留原有界面与业务流程">
            <a:extLst xmlns:a="http://schemas.openxmlformats.org/drawingml/2006/main">
              <a:ext uri="{FF2B5EF4-FFF2-40B4-BE49-F238E27FC236}">
                <a16:creationId xmlns:a16="http://schemas.microsoft.com/office/drawing/2014/main" id="{6A830F30-0A05-4F80-9434-A3DE5BBDF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000625"/>
            <a:ext cx="3962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rPr>
              <a:t>保留原有界面与业务流程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D2FDA13-9F33-4999-8689-9A6FB6E7A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24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F434539-AC1B-4C5E-91B3-3A73F53DA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724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3" name=""/>
          <p:cNvCxnSpPr>
            <a:stCxn xmlns:a="http://schemas.openxmlformats.org/drawingml/2006/main" id="46" idx="1"/>
            <a:endCxn xmlns:a="http://schemas.openxmlformats.org/drawingml/2006/main" id="47" idx="3"/>
          </p:cNvCxnSpPr>
          <p:nvPr/>
        </p:nvCxnSpPr>
        <p:spPr>
          <a:xfrm xmlns:a="http://schemas.openxmlformats.org/drawingml/2006/main" flipH="1">
            <a:off x="4506278" y="4724877"/>
            <a:ext cx="1589722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4CFF"/>
            </a:solidFill>
            <a:prstDash val="solid"/>
            <a:tailEnd type="triangle" w="med" len="med"/>
          </a:ln>
        </p:spPr>
      </p:cxnSp>
      <p:sp>
        <p:nvSpPr>
          <p:cNvPr id="49" name="模型调用">
            <a:extLst xmlns:a="http://schemas.openxmlformats.org/drawingml/2006/main">
              <a:ext uri="{FF2B5EF4-FFF2-40B4-BE49-F238E27FC236}">
                <a16:creationId xmlns:a16="http://schemas.microsoft.com/office/drawing/2014/main" id="{AA649364-14BE-4B8A-BBFA-8FD67E9C1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371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34C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34CFF"/>
                </a:solidFill>
                <a:latin typeface="Arial Unicode MS"/>
                <a:ea typeface="Arial Unicode MS"/>
                <a:cs typeface="Arial Unicode MS"/>
              </a:rPr>
              <a:t>模型调用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45E8F2D-E79E-4B85-BEE6-1FF19B36F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81650"/>
            <a:ext cx="143256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4EE"/>
            </a:solidFill>
          </a:ln>
        </p:spPr>
      </p:sp>
      <p:sp>
        <p:nvSpPr>
          <p:cNvPr id="51" name="Connectors｜连接系统与设备">
            <a:extLst xmlns:a="http://schemas.openxmlformats.org/drawingml/2006/main">
              <a:ext uri="{FF2B5EF4-FFF2-40B4-BE49-F238E27FC236}">
                <a16:creationId xmlns:a16="http://schemas.microsoft.com/office/drawing/2014/main" id="{13175EF3-F8F0-456C-BD1A-80DED887F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86425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rPr>
              <a:t>Connectors｜连接系统与设备</a:t>
            </a:r>
          </a:p>
        </p:txBody>
      </p:sp>
      <p:sp>
        <p:nvSpPr>
          <p:cNvPr id="52" name="知识库｜工艺、规则与经验">
            <a:extLst xmlns:a="http://schemas.openxmlformats.org/drawingml/2006/main">
              <a:ext uri="{FF2B5EF4-FFF2-40B4-BE49-F238E27FC236}">
                <a16:creationId xmlns:a16="http://schemas.microsoft.com/office/drawing/2014/main" id="{3A85D3AE-140B-4788-9C2F-8564712BC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686425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rPr>
              <a:t>知识库｜工艺、规则与经验</a:t>
            </a:r>
          </a:p>
        </p:txBody>
      </p:sp>
      <p:sp>
        <p:nvSpPr>
          <p:cNvPr id="53" name="平台治理｜权限、发布与审计">
            <a:extLst xmlns:a="http://schemas.openxmlformats.org/drawingml/2006/main">
              <a:ext uri="{FF2B5EF4-FFF2-40B4-BE49-F238E27FC236}">
                <a16:creationId xmlns:a16="http://schemas.microsoft.com/office/drawing/2014/main" id="{19D12EB4-A9B5-4F36-8CC5-FACD10EC5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686425"/>
            <a:ext cx="436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rPr>
              <a:t>平台治理｜权限、发布与审计</a:t>
            </a:r>
          </a:p>
        </p:txBody>
      </p:sp>
      <p:sp>
        <p:nvSpPr>
          <p:cNvPr id="54" name="运行时按权限调用系统与检索知识；完整应用按接口条件集成。">
            <a:extLst xmlns:a="http://schemas.openxmlformats.org/drawingml/2006/main">
              <a:ext uri="{FF2B5EF4-FFF2-40B4-BE49-F238E27FC236}">
                <a16:creationId xmlns:a16="http://schemas.microsoft.com/office/drawing/2014/main" id="{7C5A64FC-EAF4-46BA-A79C-6E9CE6475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00750"/>
            <a:ext cx="1381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rPr>
              <a:t>运行时按权限调用系统与检索知识；完整应用按接口条件集成。</a:t>
            </a:r>
          </a:p>
        </p:txBody>
      </p:sp>
      <p:sp>
        <p:nvSpPr>
          <p:cNvPr id="55" name="模型供给｜独立于平台部署方式">
            <a:extLst xmlns:a="http://schemas.openxmlformats.org/drawingml/2006/main">
              <a:ext uri="{FF2B5EF4-FFF2-40B4-BE49-F238E27FC236}">
                <a16:creationId xmlns:a16="http://schemas.microsoft.com/office/drawing/2014/main" id="{65EFA3CE-C459-4495-B6C3-62E734A0F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381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rPr>
              <a:t>模型供给｜独立于平台部署方式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9DC6A4D-6DDF-405A-8C21-913A6CFD9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934200"/>
            <a:ext cx="4048125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4EE"/>
            </a:solidFill>
          </a:ln>
        </p:spPr>
      </p:sp>
      <p:sp>
        <p:nvSpPr>
          <p:cNvPr id="57" name="内部 Token">
            <a:extLst xmlns:a="http://schemas.openxmlformats.org/drawingml/2006/main">
              <a:ext uri="{FF2B5EF4-FFF2-40B4-BE49-F238E27FC236}">
                <a16:creationId xmlns:a16="http://schemas.microsoft.com/office/drawing/2014/main" id="{4744898B-1E27-426A-B4BC-262A35110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86600"/>
            <a:ext cx="3629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rPr>
              <a:t>内部 Token</a:t>
            </a:r>
          </a:p>
        </p:txBody>
      </p:sp>
      <p:sp>
        <p:nvSpPr>
          <p:cNvPr id="58" name="环境内模型：算力、质量与内部额度">
            <a:extLst xmlns:a="http://schemas.openxmlformats.org/drawingml/2006/main">
              <a:ext uri="{FF2B5EF4-FFF2-40B4-BE49-F238E27FC236}">
                <a16:creationId xmlns:a16="http://schemas.microsoft.com/office/drawing/2014/main" id="{632D0F13-73A4-4E87-B5B0-D549C8CA1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543800"/>
            <a:ext cx="36290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rPr>
              <a:t>环境内模型：算力、质量与内部额度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CD2910F-1F62-43C8-A025-582B3061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934200"/>
            <a:ext cx="3333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4EE"/>
            </a:solidFill>
          </a:ln>
        </p:spPr>
      </p:sp>
      <p:sp>
        <p:nvSpPr>
          <p:cNvPr id="60" name="TokenHub">
            <a:extLst xmlns:a="http://schemas.openxmlformats.org/drawingml/2006/main">
              <a:ext uri="{FF2B5EF4-FFF2-40B4-BE49-F238E27FC236}">
                <a16:creationId xmlns:a16="http://schemas.microsoft.com/office/drawing/2014/main" id="{C1325A67-F357-41AF-BC8A-F3CD31739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708660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rPr>
              <a:t>TokenHub</a:t>
            </a:r>
          </a:p>
        </p:txBody>
      </p:sp>
      <p:sp>
        <p:nvSpPr>
          <p:cNvPr id="61" name="按任务与数据策略路由">
            <a:extLst xmlns:a="http://schemas.openxmlformats.org/drawingml/2006/main">
              <a:ext uri="{FF2B5EF4-FFF2-40B4-BE49-F238E27FC236}">
                <a16:creationId xmlns:a16="http://schemas.microsoft.com/office/drawing/2014/main" id="{9770D2D3-41A8-467C-9B6E-B6399DDD9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7543800"/>
            <a:ext cx="2914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rPr>
              <a:t>按任务与数据策略路由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9ADA32D-E0D7-48D9-9A5A-5FEC2A425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934200"/>
            <a:ext cx="3762375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4EE"/>
            </a:solidFill>
          </a:ln>
        </p:spPr>
      </p:sp>
      <p:sp>
        <p:nvSpPr>
          <p:cNvPr id="63" name="外部 Token · 可选">
            <a:extLst xmlns:a="http://schemas.openxmlformats.org/drawingml/2006/main">
              <a:ext uri="{FF2B5EF4-FFF2-40B4-BE49-F238E27FC236}">
                <a16:creationId xmlns:a16="http://schemas.microsoft.com/office/drawing/2014/main" id="{40E9C33C-0A0E-4C10-9E66-0B565DEBD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9975" y="7086600"/>
            <a:ext cx="3343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rPr>
              <a:t>外部 Token · 可选</a:t>
            </a:r>
          </a:p>
        </p:txBody>
      </p:sp>
      <p:sp>
        <p:nvSpPr>
          <p:cNvPr id="64" name="外部 API：网络、授权与供应商额度">
            <a:extLst xmlns:a="http://schemas.openxmlformats.org/drawingml/2006/main">
              <a:ext uri="{FF2B5EF4-FFF2-40B4-BE49-F238E27FC236}">
                <a16:creationId xmlns:a16="http://schemas.microsoft.com/office/drawing/2014/main" id="{C329A2A1-F14A-4155-BB1F-AA58E28CE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9975" y="7543800"/>
            <a:ext cx="33432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rPr>
              <a:t>外部 API：网络、授权与供应商额度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78808AD-9D96-485E-8846-3C3B623D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7448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DE0FEBF-2643-4E3B-BC73-FAF5903A8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7448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2" name=""/>
          <p:cNvCxnSpPr>
            <a:stCxn xmlns:a="http://schemas.openxmlformats.org/drawingml/2006/main" id="65" idx="1"/>
            <a:endCxn xmlns:a="http://schemas.openxmlformats.org/drawingml/2006/main" id="66" idx="3"/>
          </p:cNvCxnSpPr>
          <p:nvPr/>
        </p:nvCxnSpPr>
        <p:spPr>
          <a:xfrm xmlns:a="http://schemas.openxmlformats.org/drawingml/2006/main" flipH="1">
            <a:off x="4506278" y="7449027"/>
            <a:ext cx="1589722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4CFF"/>
            </a:solidFill>
            <a:prstDash val="solid"/>
            <a:tailEnd type="triangle" w="med" len="med"/>
          </a:ln>
        </p:spPr>
      </p:cxnSp>
      <p:sp>
        <p:nvSpPr>
          <p:cNvPr id="68" name="内部路由">
            <a:extLst xmlns:a="http://schemas.openxmlformats.org/drawingml/2006/main">
              <a:ext uri="{FF2B5EF4-FFF2-40B4-BE49-F238E27FC236}">
                <a16:creationId xmlns:a16="http://schemas.microsoft.com/office/drawing/2014/main" id="{B64D0272-BA51-416F-A7C4-A72E4BB86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09612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34C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34CFF"/>
                </a:solidFill>
                <a:latin typeface="Arial Unicode MS"/>
                <a:ea typeface="Arial Unicode MS"/>
                <a:cs typeface="Arial Unicode MS"/>
              </a:rPr>
              <a:t>内部路由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7EDC931-48E9-415E-8730-D27EC6EAD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7448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24C62C2-3AE4-400A-A108-9A457D2F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7448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6" name=""/>
          <p:cNvCxnSpPr>
            <a:stCxn xmlns:a="http://schemas.openxmlformats.org/drawingml/2006/main" id="69" idx="3"/>
            <a:endCxn xmlns:a="http://schemas.openxmlformats.org/drawingml/2006/main" id="70" idx="1"/>
          </p:cNvCxnSpPr>
          <p:nvPr/>
        </p:nvCxnSpPr>
        <p:spPr>
          <a:xfrm xmlns:a="http://schemas.openxmlformats.org/drawingml/2006/main">
            <a:off x="9430703" y="7449027"/>
            <a:ext cx="1589722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4CFF"/>
            </a:solidFill>
            <a:prstDash val="solid"/>
            <a:tailEnd type="triangle" w="med" len="med"/>
          </a:ln>
        </p:spPr>
      </p:cxnSp>
      <p:sp>
        <p:nvSpPr>
          <p:cNvPr id="72" name="允许外发">
            <a:extLst xmlns:a="http://schemas.openxmlformats.org/drawingml/2006/main">
              <a:ext uri="{FF2B5EF4-FFF2-40B4-BE49-F238E27FC236}">
                <a16:creationId xmlns:a16="http://schemas.microsoft.com/office/drawing/2014/main" id="{5662331B-4FA6-44CF-8377-66A635183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709612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34C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34CFF"/>
                </a:solidFill>
                <a:latin typeface="Arial Unicode MS"/>
                <a:ea typeface="Arial Unicode MS"/>
                <a:cs typeface="Arial Unicode MS"/>
              </a:rPr>
              <a:t>允许外发</a:t>
            </a:r>
          </a:p>
        </p:txBody>
      </p:sp>
      <p:sp>
        <p:nvSpPr>
          <p:cNvPr id="73" name="Token 为模型推理用量；非生成式专业模型按其接口与计量方">
            <a:extLst xmlns:a="http://schemas.openxmlformats.org/drawingml/2006/main">
              <a:ext uri="{FF2B5EF4-FFF2-40B4-BE49-F238E27FC236}">
                <a16:creationId xmlns:a16="http://schemas.microsoft.com/office/drawing/2014/main" id="{FC369E48-9CF3-4DC9-82CC-F74FD9353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01000"/>
            <a:ext cx="1419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rPr>
              <a:t>Token 为模型推理用量；非生成式专业模型按其接口与计量方式接入。</a:t>
            </a:r>
          </a:p>
        </p:txBody>
      </p:sp>
      <p:sp>
        <p:nvSpPr>
          <p:cNvPr id="74" name="部署方式｜同一套平台能力，按方案确认适配">
            <a:extLst xmlns:a="http://schemas.openxmlformats.org/drawingml/2006/main">
              <a:ext uri="{FF2B5EF4-FFF2-40B4-BE49-F238E27FC236}">
                <a16:creationId xmlns:a16="http://schemas.microsoft.com/office/drawing/2014/main" id="{BBE917A2-342E-4B1E-ABD7-F9E9393E7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0"/>
            <a:ext cx="1419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rPr>
              <a:t>部署方式｜同一套平台能力，按方案确认适配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6FA5FC5-4F38-4AFA-AE3C-F6334CCCA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848725"/>
            <a:ext cx="702945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4EE"/>
            </a:solidFill>
          </a:ln>
        </p:spPr>
      </p:sp>
      <p:sp>
        <p:nvSpPr>
          <p:cNvPr id="76" name="SaaS｜平台运营的可信云环境">
            <a:extLst xmlns:a="http://schemas.openxmlformats.org/drawingml/2006/main">
              <a:ext uri="{FF2B5EF4-FFF2-40B4-BE49-F238E27FC236}">
                <a16:creationId xmlns:a16="http://schemas.microsoft.com/office/drawing/2014/main" id="{2991A2CF-CA40-4B88-AFCB-0AD165CDE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01125"/>
            <a:ext cx="661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rPr>
              <a:t>SaaS｜平台运营的可信云环境</a:t>
            </a:r>
          </a:p>
        </p:txBody>
      </p:sp>
      <p:sp>
        <p:nvSpPr>
          <p:cNvPr id="77" name="模型接入 · Agent 运行 · 应用集成 · 连接器 ·">
            <a:extLst xmlns:a="http://schemas.openxmlformats.org/drawingml/2006/main">
              <a:ext uri="{FF2B5EF4-FFF2-40B4-BE49-F238E27FC236}">
                <a16:creationId xmlns:a16="http://schemas.microsoft.com/office/drawing/2014/main" id="{908A7539-88C1-4849-99C4-2B1494AB3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458325"/>
            <a:ext cx="66103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rPr>
              <a:t>模型接入 · Agent 运行 · 应用集成 · 连接器 · 知识库 · 治理</a:t>
            </a:r>
          </a:p>
        </p:txBody>
      </p:sp>
      <p:sp>
        <p:nvSpPr>
          <p:cNvPr id="78" name="租户隔离 · 按授权连接企业系统 · 明确上云数据范围">
            <a:extLst xmlns:a="http://schemas.openxmlformats.org/drawingml/2006/main">
              <a:ext uri="{FF2B5EF4-FFF2-40B4-BE49-F238E27FC236}">
                <a16:creationId xmlns:a16="http://schemas.microsoft.com/office/drawing/2014/main" id="{D9DE11BD-5816-4C4C-8951-9EA5DAFEB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53600"/>
            <a:ext cx="66103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rPr>
              <a:t>租户隔离 · 按授权连接企业系统 · 明确上云数据范围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BDE9B15-E795-4496-B648-2F0785B1C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8848725"/>
            <a:ext cx="702945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4EE"/>
            </a:solidFill>
          </a:ln>
        </p:spPr>
      </p:sp>
      <p:sp>
        <p:nvSpPr>
          <p:cNvPr id="80" name="私有化一体机｜客户侧可信环境">
            <a:extLst xmlns:a="http://schemas.openxmlformats.org/drawingml/2006/main">
              <a:ext uri="{FF2B5EF4-FFF2-40B4-BE49-F238E27FC236}">
                <a16:creationId xmlns:a16="http://schemas.microsoft.com/office/drawing/2014/main" id="{56BED28D-55B8-4E15-A178-F46820F3B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9001125"/>
            <a:ext cx="661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rPr>
              <a:t>私有化一体机｜客户侧可信环境</a:t>
            </a:r>
          </a:p>
        </p:txBody>
      </p:sp>
      <p:sp>
        <p:nvSpPr>
          <p:cNvPr id="81" name="模型接入 · Agent 运行 · 应用集成 · 连接器 ·">
            <a:extLst xmlns:a="http://schemas.openxmlformats.org/drawingml/2006/main">
              <a:ext uri="{FF2B5EF4-FFF2-40B4-BE49-F238E27FC236}">
                <a16:creationId xmlns:a16="http://schemas.microsoft.com/office/drawing/2014/main" id="{F62EEDB5-F1FF-47AA-8161-7EFA6406F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9458325"/>
            <a:ext cx="66103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rPr>
              <a:t>模型接入 · Agent 运行 · 应用集成 · 连接器 · 知识库 · 治理</a:t>
            </a:r>
          </a:p>
        </p:txBody>
      </p:sp>
      <p:sp>
        <p:nvSpPr>
          <p:cNvPr id="82" name="按配置部署模型与组件 · 可仅用内部模型，关闭外部通道">
            <a:extLst xmlns:a="http://schemas.openxmlformats.org/drawingml/2006/main">
              <a:ext uri="{FF2B5EF4-FFF2-40B4-BE49-F238E27FC236}">
                <a16:creationId xmlns:a16="http://schemas.microsoft.com/office/drawing/2014/main" id="{05ED7769-EF60-49A0-AA34-5E07BFF44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9753600"/>
            <a:ext cx="66103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rPr>
              <a:t>按配置部署模型与组件 · 可仅用内部模型，关闭外部通道</a:t>
            </a:r>
          </a:p>
        </p:txBody>
      </p:sp>
      <p:sp>
        <p:nvSpPr>
          <p:cNvPr id="83" name="SaaS 平台 ≠ 外部模型 API；私有化也可按策略使用外">
            <a:extLst xmlns:a="http://schemas.openxmlformats.org/drawingml/2006/main">
              <a:ext uri="{FF2B5EF4-FFF2-40B4-BE49-F238E27FC236}">
                <a16:creationId xmlns:a16="http://schemas.microsoft.com/office/drawing/2014/main" id="{54B0E1B7-B368-462F-A20A-F5D7548AC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20325"/>
            <a:ext cx="1419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rPr>
              <a:t>SaaS 平台 ≠ 外部模型 API；私有化也可按策略使用外部模型。部署支持以适配结果为准。</a:t>
            </a:r>
          </a:p>
        </p:txBody>
      </p:sp>
      <p:sp>
        <p:nvSpPr>
          <p:cNvPr id="84" name="业务可信：评测、溯源、复核    ｜    数据安全可信：可">
            <a:extLst xmlns:a="http://schemas.openxmlformats.org/drawingml/2006/main">
              <a:ext uri="{FF2B5EF4-FFF2-40B4-BE49-F238E27FC236}">
                <a16:creationId xmlns:a16="http://schemas.microsoft.com/office/drawing/2014/main" id="{E71025E9-1395-4EC6-AD40-95E193633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82275"/>
            <a:ext cx="1419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rPr>
              <a:t>业务可信：评测、溯源、复核    ｜    数据安全可信：可信环境、最小权限、数据边界</a:t>
            </a:r>
          </a:p>
        </p:txBody>
      </p:sp>
      <p:sp>
        <p:nvSpPr>
          <p:cNvPr id="85" name="虚线：评测与接入流程；蓝色实线：调用请求方向（响应省略）。">
            <a:extLst xmlns:a="http://schemas.openxmlformats.org/drawingml/2006/main">
              <a:ext uri="{FF2B5EF4-FFF2-40B4-BE49-F238E27FC236}">
                <a16:creationId xmlns:a16="http://schemas.microsoft.com/office/drawing/2014/main" id="{ADD78805-ECDE-4F19-94CD-349125A0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01375"/>
            <a:ext cx="1419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rPr>
              <a:t>虚线：评测与接入流程；蓝色实线：调用请求方向（响应省略）。</a:t>
            </a:r>
          </a:p>
        </p:txBody>
      </p:sp>
    </p:spTree>
    <p:extLst>
      <p:ext uri="{BB962C8B-B14F-4D97-AF65-F5344CB8AC3E}">
        <p14:creationId xmlns:p14="http://schemas.microsoft.com/office/powerpoint/2010/main" val="5396411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2026-09-29T05:31:31.2370000Z</dcterms:created>
  <dcterms:modified xsi:type="dcterms:W3CDTF">2026-09-29T05:31:31.2370000Z</dcterms:modified>
</coreProperties>
</file>