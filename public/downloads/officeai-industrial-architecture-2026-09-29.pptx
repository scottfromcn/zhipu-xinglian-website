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ce0d41db9394739" /><Relationship Type="http://schemas.openxmlformats.org/officeDocument/2006/relationships/extended-properties" Target="/docProps/app.xml" Id="R2a5c88c8ef844343" /><Relationship Type="http://schemas.openxmlformats.org/officeDocument/2006/relationships/officeDocument" Target="/ppt/presentation.xml" Id="R5de153c083db4cc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de0fca52fb94d5d"/>
  </p:sldMasterIdLst>
  <p:notesMasterIdLst>
    <p:notesMasterId xmlns:r="http://schemas.openxmlformats.org/officeDocument/2006/relationships" r:id="Reac715c9abab4186"/>
  </p:notesMasterIdLst>
  <p:sldIdLst>
    <p:sldId xmlns:r="http://schemas.openxmlformats.org/officeDocument/2006/relationships" id="256" r:id="R4e6d163fff254a36"/>
    <p:sldId xmlns:r="http://schemas.openxmlformats.org/officeDocument/2006/relationships" id="257" r:id="R26853ea179a64f7e"/>
  </p:sldIdLst>
  <p:sldSz cx="15240000" cy="11430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d8f1d90fcda4aba" /><Relationship Type="http://schemas.openxmlformats.org/officeDocument/2006/relationships/slideMaster" Target="/ppt/slideMasters/slideMaster1.xml" Id="R7de0fca52fb94d5d" /><Relationship Type="http://schemas.openxmlformats.org/officeDocument/2006/relationships/notesMaster" Target="/ppt/notesMasters/notesMaster1.xml" Id="Reac715c9abab4186" /><Relationship Type="http://schemas.openxmlformats.org/officeDocument/2006/relationships/presProps" Target="/ppt/presProps.xml" Id="Rbc9b784146fd4cc5" /><Relationship Type="http://schemas.openxmlformats.org/officeDocument/2006/relationships/tableStyles" Target="/ppt/tableStyles.xml" Id="Rfec7e8ce58af4854" /><Relationship Type="http://schemas.openxmlformats.org/officeDocument/2006/relationships/slide" Target="/ppt/slides/slide1.xml" Id="R4e6d163fff254a36" /><Relationship Type="http://schemas.openxmlformats.org/officeDocument/2006/relationships/slide" Target="/ppt/slides/slide2.xml" Id="R26853ea179a64f7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49589d37dfa47a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02e5cc95d9c4241" /><Relationship Type="http://schemas.openxmlformats.org/officeDocument/2006/relationships/notesMaster" Target="/ppt/notesMasters/notesMaster1.xml" Id="Rd70401ca9bd24a9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c48393d272b4206" /><Relationship Type="http://schemas.openxmlformats.org/officeDocument/2006/relationships/notesMaster" Target="/ppt/notesMasters/notesMaster1.xml" Id="R79cb09c7656f431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内容来自用户确认的 OfficeAI 架构图 v3（docs/diagrams/officeai-components-token-2026-09-29-v3.png）。样式参考 https://bigmodel.cn/glm-coding 。OfficeAI 组件在客户侧私有化可信环境部署，外部模型服务可选。内部模型依赖客户算力与内部额度；外部模型依赖授权、网络与供应商额度。Agent Admin 为治理层，不串入调用链路。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内容来自用户确认的工业智能体 v2 图（docs/diagrams/industrial-agent-components-token-2026-09-29-v2.png）。样式参考 https://bigmodel.cn/glm-coding 。三种形态分别接入 TokenHub、Agent Runtime、应用入口/API/Connector。厂商为用户指定候选示例，不表示已合作或完成适配。平台交付方式与模型供给互相独立，各方案实际部署支持以评测和适配结果为准。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2a593245c0493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eb4a5af149947b5" /><Relationship Type="http://schemas.openxmlformats.org/officeDocument/2006/relationships/slideLayout" Target="/ppt/slideLayouts/slideLayout1.xml" Id="Re2364c169e4943a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2364c169e4943a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3bb5f855534510" /><Relationship Type="http://schemas.openxmlformats.org/officeDocument/2006/relationships/notesSlide" Target="/ppt/notesSlides/notesSlide1.xml" Id="R3daa8b783cd34d0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4628f6c9164ba0" /><Relationship Type="http://schemas.openxmlformats.org/officeDocument/2006/relationships/notesSlide" Target="/ppt/notesSlides/notesSlide2.xml" Id="R4465010ce53c4ce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OfficeAI 办公智能">
            <a:extLst xmlns:a="http://schemas.openxmlformats.org/drawingml/2006/main">
              <a:ext uri="{FF2B5EF4-FFF2-40B4-BE49-F238E27FC236}">
                <a16:creationId xmlns:a16="http://schemas.microsoft.com/office/drawing/2014/main" id="{E63DB538-A1C0-454F-91C4-70ADFAD8C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1390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3121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600" b="1">
                <a:solidFill>
                  <a:srgbClr val="131212"/>
                </a:solidFill>
                <a:latin typeface="Arial Unicode MS"/>
                <a:ea typeface="Arial Unicode MS"/>
                <a:cs typeface="Arial Unicode MS"/>
              </a:rPr>
              <a:t>OfficeAI 办公智能</a:t>
            </a:r>
          </a:p>
        </p:txBody>
      </p:sp>
      <p:sp>
        <p:nvSpPr>
          <p:cNvPr id="2" name="组件协同与内外部 Token 供给">
            <a:extLst xmlns:a="http://schemas.openxmlformats.org/drawingml/2006/main">
              <a:ext uri="{FF2B5EF4-FFF2-40B4-BE49-F238E27FC236}">
                <a16:creationId xmlns:a16="http://schemas.microsoft.com/office/drawing/2014/main" id="{747D860D-0C70-4A62-B7B8-9EA1E452D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42975"/>
            <a:ext cx="1400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rPr>
              <a:t>组件协同与内外部 Token 供给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89BC22-AAF0-482F-9429-802ACA1A6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52575"/>
            <a:ext cx="10763250" cy="8191500"/>
          </a:xfrm>
          <a:prstGeom xmlns:a="http://schemas.openxmlformats.org/drawingml/2006/main" prst="roundRect">
            <a:avLst>
              <a:gd name="adj" fmla="val 930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FE4EE"/>
            </a:solidFill>
          </a:ln>
        </p:spPr>
      </p:sp>
      <p:sp>
        <p:nvSpPr>
          <p:cNvPr id="4" name="客户私有化可信环境">
            <a:extLst xmlns:a="http://schemas.openxmlformats.org/drawingml/2006/main">
              <a:ext uri="{FF2B5EF4-FFF2-40B4-BE49-F238E27FC236}">
                <a16:creationId xmlns:a16="http://schemas.microsoft.com/office/drawing/2014/main" id="{E9ABC097-4E1B-463E-A703-286BE3E81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24025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3121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131212"/>
                </a:solidFill>
                <a:latin typeface="Arial Unicode MS"/>
                <a:ea typeface="Arial Unicode MS"/>
                <a:cs typeface="Arial Unicode MS"/>
              </a:rPr>
              <a:t>客户私有化可信环境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FDC2C0-9DAB-4607-999A-170B9D016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52675"/>
            <a:ext cx="102298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4EE"/>
            </a:solidFill>
          </a:ln>
        </p:spPr>
      </p:sp>
      <p:sp>
        <p:nvSpPr>
          <p:cNvPr id="6" name="Agent Admin｜智能体管理">
            <a:extLst xmlns:a="http://schemas.openxmlformats.org/drawingml/2006/main">
              <a:ext uri="{FF2B5EF4-FFF2-40B4-BE49-F238E27FC236}">
                <a16:creationId xmlns:a16="http://schemas.microsoft.com/office/drawing/2014/main" id="{14290A8A-0740-43AC-A711-F2A7EAC93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05075"/>
            <a:ext cx="981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3121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131212"/>
                </a:solidFill>
                <a:latin typeface="Arial Unicode MS"/>
                <a:ea typeface="Arial Unicode MS"/>
                <a:cs typeface="Arial Unicode MS"/>
              </a:rPr>
              <a:t>Agent Admin｜智能体管理</a:t>
            </a:r>
          </a:p>
        </p:txBody>
      </p:sp>
      <p:sp>
        <p:nvSpPr>
          <p:cNvPr id="7" name="身份权限 · 发布审批 · 执行审计">
            <a:extLst xmlns:a="http://schemas.openxmlformats.org/drawingml/2006/main">
              <a:ext uri="{FF2B5EF4-FFF2-40B4-BE49-F238E27FC236}">
                <a16:creationId xmlns:a16="http://schemas.microsoft.com/office/drawing/2014/main" id="{5F7EE846-55FD-4E3A-AD5F-34B7E2418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62275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rPr>
              <a:t>身份权限 · 发布审批 · 执行审计</a:t>
            </a:r>
          </a:p>
        </p:txBody>
      </p:sp>
      <p:sp>
        <p:nvSpPr>
          <p:cNvPr id="8" name="治理覆盖全部组件">
            <a:extLst xmlns:a="http://schemas.openxmlformats.org/drawingml/2006/main">
              <a:ext uri="{FF2B5EF4-FFF2-40B4-BE49-F238E27FC236}">
                <a16:creationId xmlns:a16="http://schemas.microsoft.com/office/drawing/2014/main" id="{C7BDCD76-6561-4B4D-ABBD-210E59DD5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524125"/>
            <a:ext cx="261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rPr>
              <a:t>治理覆盖全部组件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475F07-49D7-4D29-8CED-D7B715C69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24275"/>
            <a:ext cx="3162300" cy="1362075"/>
          </a:xfrm>
          <a:prstGeom xmlns:a="http://schemas.openxmlformats.org/drawingml/2006/main" prst="roundRect">
            <a:avLst>
              <a:gd name="adj" fmla="val 55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4EE"/>
            </a:solidFill>
          </a:ln>
        </p:spPr>
      </p:sp>
      <p:sp>
        <p:nvSpPr>
          <p:cNvPr id="10" name="SkillHub">
            <a:extLst xmlns:a="http://schemas.openxmlformats.org/drawingml/2006/main">
              <a:ext uri="{FF2B5EF4-FFF2-40B4-BE49-F238E27FC236}">
                <a16:creationId xmlns:a16="http://schemas.microsoft.com/office/drawing/2014/main" id="{D005CFA2-6025-4A28-B3E2-440AA97F1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2743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3121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31212"/>
                </a:solidFill>
                <a:latin typeface="Arial Unicode MS"/>
                <a:ea typeface="Arial Unicode MS"/>
                <a:cs typeface="Arial Unicode MS"/>
              </a:rPr>
              <a:t>SkillHub</a:t>
            </a:r>
          </a:p>
        </p:txBody>
      </p:sp>
      <p:sp>
        <p:nvSpPr>
          <p:cNvPr id="11" name="企业技能中心">
            <a:extLst xmlns:a="http://schemas.openxmlformats.org/drawingml/2006/main">
              <a:ext uri="{FF2B5EF4-FFF2-40B4-BE49-F238E27FC236}">
                <a16:creationId xmlns:a16="http://schemas.microsoft.com/office/drawing/2014/main" id="{96C6274C-7768-4F4D-AE4B-702D0DDF3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33875"/>
            <a:ext cx="2743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rPr>
              <a:t>企业技能中心</a:t>
            </a:r>
          </a:p>
        </p:txBody>
      </p:sp>
      <p:sp>
        <p:nvSpPr>
          <p:cNvPr id="12" name="工作方法 · 版本 · 复用">
            <a:extLst xmlns:a="http://schemas.openxmlformats.org/drawingml/2006/main">
              <a:ext uri="{FF2B5EF4-FFF2-40B4-BE49-F238E27FC236}">
                <a16:creationId xmlns:a16="http://schemas.microsoft.com/office/drawing/2014/main" id="{3E41E8E8-B6E3-4689-97EC-7192D6D4C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29150"/>
            <a:ext cx="2743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rPr>
              <a:t>工作方法 · 版本 · 复用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1F626B-3DA9-406B-9035-9E90BD170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724275"/>
            <a:ext cx="3162300" cy="1362075"/>
          </a:xfrm>
          <a:prstGeom xmlns:a="http://schemas.openxmlformats.org/drawingml/2006/main" prst="roundRect">
            <a:avLst>
              <a:gd name="adj" fmla="val 55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4EE"/>
            </a:solidFill>
          </a:ln>
        </p:spPr>
      </p:sp>
      <p:sp>
        <p:nvSpPr>
          <p:cNvPr id="14" name="Connectors">
            <a:extLst xmlns:a="http://schemas.openxmlformats.org/drawingml/2006/main">
              <a:ext uri="{FF2B5EF4-FFF2-40B4-BE49-F238E27FC236}">
                <a16:creationId xmlns:a16="http://schemas.microsoft.com/office/drawing/2014/main" id="{B65AC388-80A9-47E9-8261-669D4BB19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876675"/>
            <a:ext cx="2743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3121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31212"/>
                </a:solidFill>
                <a:latin typeface="Arial Unicode MS"/>
                <a:ea typeface="Arial Unicode MS"/>
                <a:cs typeface="Arial Unicode MS"/>
              </a:rPr>
              <a:t>Connectors</a:t>
            </a:r>
          </a:p>
        </p:txBody>
      </p:sp>
      <p:sp>
        <p:nvSpPr>
          <p:cNvPr id="15" name="连接 OA、ERP 等已有系统">
            <a:extLst xmlns:a="http://schemas.openxmlformats.org/drawingml/2006/main">
              <a:ext uri="{FF2B5EF4-FFF2-40B4-BE49-F238E27FC236}">
                <a16:creationId xmlns:a16="http://schemas.microsoft.com/office/drawing/2014/main" id="{C3369854-C61B-4969-948E-07C738C8C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333875"/>
            <a:ext cx="2743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rPr>
              <a:t>连接 OA、ERP 等已有系统</a:t>
            </a:r>
          </a:p>
        </p:txBody>
      </p:sp>
      <p:sp>
        <p:nvSpPr>
          <p:cNvPr id="16" name="按权限查询与执行业务操作">
            <a:extLst xmlns:a="http://schemas.openxmlformats.org/drawingml/2006/main">
              <a:ext uri="{FF2B5EF4-FFF2-40B4-BE49-F238E27FC236}">
                <a16:creationId xmlns:a16="http://schemas.microsoft.com/office/drawing/2014/main" id="{30C9C790-5C8D-41B4-B160-BC0BD0C45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629150"/>
            <a:ext cx="2743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rPr>
              <a:t>按权限查询与执行业务操作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C193B6-680B-4BD7-B93C-33F271EFD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724275"/>
            <a:ext cx="3162300" cy="1362075"/>
          </a:xfrm>
          <a:prstGeom xmlns:a="http://schemas.openxmlformats.org/drawingml/2006/main" prst="roundRect">
            <a:avLst>
              <a:gd name="adj" fmla="val 55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4EE"/>
            </a:solidFill>
          </a:ln>
        </p:spPr>
      </p:sp>
      <p:sp>
        <p:nvSpPr>
          <p:cNvPr id="18" name="知识库">
            <a:extLst xmlns:a="http://schemas.openxmlformats.org/drawingml/2006/main">
              <a:ext uri="{FF2B5EF4-FFF2-40B4-BE49-F238E27FC236}">
                <a16:creationId xmlns:a16="http://schemas.microsoft.com/office/drawing/2014/main" id="{8FABDC45-7424-498C-A328-FC3DE7F7F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76675"/>
            <a:ext cx="2743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3121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31212"/>
                </a:solidFill>
                <a:latin typeface="Arial Unicode MS"/>
                <a:ea typeface="Arial Unicode MS"/>
                <a:cs typeface="Arial Unicode MS"/>
              </a:rPr>
              <a:t>知识库</a:t>
            </a:r>
          </a:p>
        </p:txBody>
      </p:sp>
      <p:sp>
        <p:nvSpPr>
          <p:cNvPr id="19" name="组织知识沉淀">
            <a:extLst xmlns:a="http://schemas.openxmlformats.org/drawingml/2006/main">
              <a:ext uri="{FF2B5EF4-FFF2-40B4-BE49-F238E27FC236}">
                <a16:creationId xmlns:a16="http://schemas.microsoft.com/office/drawing/2014/main" id="{F4E62937-1BA2-4849-BA9B-DDEC1A720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333875"/>
            <a:ext cx="2743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rPr>
              <a:t>组织知识沉淀</a:t>
            </a:r>
          </a:p>
        </p:txBody>
      </p:sp>
      <p:sp>
        <p:nvSpPr>
          <p:cNvPr id="20" name="制度文档 · 检索引用 · 更新">
            <a:extLst xmlns:a="http://schemas.openxmlformats.org/drawingml/2006/main">
              <a:ext uri="{FF2B5EF4-FFF2-40B4-BE49-F238E27FC236}">
                <a16:creationId xmlns:a16="http://schemas.microsoft.com/office/drawing/2014/main" id="{CFBFFFE5-505C-4249-92F2-3E1167E57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629150"/>
            <a:ext cx="2743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rPr>
              <a:t>制度文档 · 检索引用 · 更新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0EAE85-D349-4E27-87B8-5FCC503A0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53125"/>
            <a:ext cx="102298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4EE"/>
            </a:solidFill>
          </a:ln>
        </p:spPr>
      </p:sp>
      <p:sp>
        <p:nvSpPr>
          <p:cNvPr id="22" name="OfficeAgent｜员工入口与任务执行">
            <a:extLst xmlns:a="http://schemas.openxmlformats.org/drawingml/2006/main">
              <a:ext uri="{FF2B5EF4-FFF2-40B4-BE49-F238E27FC236}">
                <a16:creationId xmlns:a16="http://schemas.microsoft.com/office/drawing/2014/main" id="{AD18C5AD-5273-41C2-BDFE-A9324102F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105525"/>
            <a:ext cx="981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3121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31212"/>
                </a:solidFill>
                <a:latin typeface="Arial Unicode MS"/>
                <a:ea typeface="Arial Unicode MS"/>
                <a:cs typeface="Arial Unicode MS"/>
              </a:rPr>
              <a:t>OfficeAgent｜员工入口与任务执行</a:t>
            </a:r>
          </a:p>
        </p:txBody>
      </p:sp>
      <p:sp>
        <p:nvSpPr>
          <p:cNvPr id="23" name="理解任务 · 调用技能与工具 · 形成成果">
            <a:extLst xmlns:a="http://schemas.openxmlformats.org/drawingml/2006/main">
              <a:ext uri="{FF2B5EF4-FFF2-40B4-BE49-F238E27FC236}">
                <a16:creationId xmlns:a16="http://schemas.microsoft.com/office/drawing/2014/main" id="{477749E2-9813-472D-9343-66669A12A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562725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rPr>
              <a:t>理解任务 · 调用技能与工具 · 形成成果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BAD3EB-BBE6-4247-8B60-20750DCA6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953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8CF6BC-65C4-4EA6-8985-2A89578EF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086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8" name=""/>
          <p:cNvCxnSpPr>
            <a:stCxn xmlns:a="http://schemas.openxmlformats.org/drawingml/2006/main" id="24" idx="0"/>
            <a:endCxn xmlns:a="http://schemas.openxmlformats.org/drawingml/2006/main" id="25" idx="2"/>
          </p:cNvCxnSpPr>
          <p:nvPr/>
        </p:nvCxnSpPr>
        <p:spPr>
          <a:xfrm xmlns:a="http://schemas.openxmlformats.org/drawingml/2006/main" flipV="1">
            <a:off x="2305527" y="5087303"/>
            <a:ext cx="0" cy="865822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4CFF"/>
            </a:solidFill>
            <a:prstDash val="solid"/>
            <a:tailEnd type="triangle" w="med" len="med"/>
          </a:ln>
        </p:spPr>
      </p:cxnSp>
      <p:sp>
        <p:nvSpPr>
          <p:cNvPr id="27" name="使用技能">
            <a:extLst xmlns:a="http://schemas.openxmlformats.org/drawingml/2006/main">
              <a:ext uri="{FF2B5EF4-FFF2-40B4-BE49-F238E27FC236}">
                <a16:creationId xmlns:a16="http://schemas.microsoft.com/office/drawing/2014/main" id="{20840F34-4FBD-47D8-9313-E9A7E8401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5429250"/>
            <a:ext cx="1285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34C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34CFF"/>
                </a:solidFill>
                <a:latin typeface="Arial Unicode MS"/>
                <a:ea typeface="Arial Unicode MS"/>
                <a:cs typeface="Arial Unicode MS"/>
              </a:rPr>
              <a:t>使用技能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C06BDA-2928-4732-B7A8-3718E87A1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5953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CB14772-45AC-48F3-A257-8F5CFD397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5086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2" name=""/>
          <p:cNvCxnSpPr>
            <a:stCxn xmlns:a="http://schemas.openxmlformats.org/drawingml/2006/main" id="28" idx="0"/>
            <a:endCxn xmlns:a="http://schemas.openxmlformats.org/drawingml/2006/main" id="29" idx="2"/>
          </p:cNvCxnSpPr>
          <p:nvPr/>
        </p:nvCxnSpPr>
        <p:spPr>
          <a:xfrm xmlns:a="http://schemas.openxmlformats.org/drawingml/2006/main" flipV="1">
            <a:off x="5839302" y="5087303"/>
            <a:ext cx="0" cy="865822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4CFF"/>
            </a:solidFill>
            <a:prstDash val="solid"/>
            <a:tailEnd type="triangle" w="med" len="med"/>
          </a:ln>
        </p:spPr>
      </p:cxnSp>
      <p:sp>
        <p:nvSpPr>
          <p:cNvPr id="31" name="调用系统">
            <a:extLst xmlns:a="http://schemas.openxmlformats.org/drawingml/2006/main">
              <a:ext uri="{FF2B5EF4-FFF2-40B4-BE49-F238E27FC236}">
                <a16:creationId xmlns:a16="http://schemas.microsoft.com/office/drawing/2014/main" id="{DA62D35B-7643-4AEC-A0D4-FA1BE03E0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429250"/>
            <a:ext cx="1285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34C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34CFF"/>
                </a:solidFill>
                <a:latin typeface="Arial Unicode MS"/>
                <a:ea typeface="Arial Unicode MS"/>
                <a:cs typeface="Arial Unicode MS"/>
              </a:rPr>
              <a:t>调用系统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98AB52B-6648-424A-B6D5-B1A10325E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953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1752E4A-79C3-4380-8304-4729E99BF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086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6" name=""/>
          <p:cNvCxnSpPr>
            <a:stCxn xmlns:a="http://schemas.openxmlformats.org/drawingml/2006/main" id="32" idx="0"/>
            <a:endCxn xmlns:a="http://schemas.openxmlformats.org/drawingml/2006/main" id="33" idx="2"/>
          </p:cNvCxnSpPr>
          <p:nvPr/>
        </p:nvCxnSpPr>
        <p:spPr>
          <a:xfrm xmlns:a="http://schemas.openxmlformats.org/drawingml/2006/main" flipV="1">
            <a:off x="9373077" y="5087303"/>
            <a:ext cx="0" cy="865822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4CFF"/>
            </a:solidFill>
            <a:prstDash val="solid"/>
            <a:tailEnd type="triangle" w="med" len="med"/>
          </a:ln>
        </p:spPr>
      </p:cxnSp>
      <p:sp>
        <p:nvSpPr>
          <p:cNvPr id="35" name="检索知识">
            <a:extLst xmlns:a="http://schemas.openxmlformats.org/drawingml/2006/main">
              <a:ext uri="{FF2B5EF4-FFF2-40B4-BE49-F238E27FC236}">
                <a16:creationId xmlns:a16="http://schemas.microsoft.com/office/drawing/2014/main" id="{1AE9A8F0-6685-4D08-9743-AEE4D6ED1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5429250"/>
            <a:ext cx="1285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34C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34CFF"/>
                </a:solidFill>
                <a:latin typeface="Arial Unicode MS"/>
                <a:ea typeface="Arial Unicode MS"/>
                <a:cs typeface="Arial Unicode MS"/>
              </a:rPr>
              <a:t>检索知识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4D51BED-819A-4DB6-A216-193171C5E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858125"/>
            <a:ext cx="3333750" cy="1552575"/>
          </a:xfrm>
          <a:prstGeom xmlns:a="http://schemas.openxmlformats.org/drawingml/2006/main" prst="roundRect">
            <a:avLst>
              <a:gd name="adj" fmla="val 49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4EE"/>
            </a:solidFill>
          </a:ln>
        </p:spPr>
      </p:sp>
      <p:sp>
        <p:nvSpPr>
          <p:cNvPr id="37" name="私有模型服务">
            <a:extLst xmlns:a="http://schemas.openxmlformats.org/drawingml/2006/main">
              <a:ext uri="{FF2B5EF4-FFF2-40B4-BE49-F238E27FC236}">
                <a16:creationId xmlns:a16="http://schemas.microsoft.com/office/drawing/2014/main" id="{353E2B49-ECF1-48C8-8BB6-568B0D20E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8010525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3121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31212"/>
                </a:solidFill>
                <a:latin typeface="Arial Unicode MS"/>
                <a:ea typeface="Arial Unicode MS"/>
                <a:cs typeface="Arial Unicode MS"/>
              </a:rPr>
              <a:t>私有模型服务</a:t>
            </a:r>
          </a:p>
        </p:txBody>
      </p:sp>
      <p:sp>
        <p:nvSpPr>
          <p:cNvPr id="38" name="客户自有 / 专属算力部署">
            <a:extLst xmlns:a="http://schemas.openxmlformats.org/drawingml/2006/main">
              <a:ext uri="{FF2B5EF4-FFF2-40B4-BE49-F238E27FC236}">
                <a16:creationId xmlns:a16="http://schemas.microsoft.com/office/drawing/2014/main" id="{D129D15A-F252-4196-BA06-EDF112B13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8467725"/>
            <a:ext cx="2914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rPr>
              <a:t>客户自有 / 专属算力部署</a:t>
            </a:r>
          </a:p>
        </p:txBody>
      </p:sp>
      <p:sp>
        <p:nvSpPr>
          <p:cNvPr id="39" name="数据内部处理 · 内部额度核算">
            <a:extLst xmlns:a="http://schemas.openxmlformats.org/drawingml/2006/main">
              <a:ext uri="{FF2B5EF4-FFF2-40B4-BE49-F238E27FC236}">
                <a16:creationId xmlns:a16="http://schemas.microsoft.com/office/drawing/2014/main" id="{56DAD839-D6B0-446B-A978-ACC554B5D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8763000"/>
            <a:ext cx="2914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rPr>
              <a:t>数据内部处理 · 内部额度核算</a:t>
            </a:r>
          </a:p>
        </p:txBody>
      </p:sp>
      <p:sp>
        <p:nvSpPr>
          <p:cNvPr id="40" name="内部 Token">
            <a:extLst xmlns:a="http://schemas.openxmlformats.org/drawingml/2006/main">
              <a:ext uri="{FF2B5EF4-FFF2-40B4-BE49-F238E27FC236}">
                <a16:creationId xmlns:a16="http://schemas.microsoft.com/office/drawing/2014/main" id="{92F5C037-9E23-43AC-989C-50DE933C6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5247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34C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34CFF"/>
                </a:solidFill>
                <a:latin typeface="Arial Unicode MS"/>
                <a:ea typeface="Arial Unicode MS"/>
                <a:cs typeface="Arial Unicode MS"/>
              </a:rPr>
              <a:t>内部 Token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61F2FFF-95BC-48D0-91E3-3773090F1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7858125"/>
            <a:ext cx="4476750" cy="1552575"/>
          </a:xfrm>
          <a:prstGeom xmlns:a="http://schemas.openxmlformats.org/drawingml/2006/main" prst="roundRect">
            <a:avLst>
              <a:gd name="adj" fmla="val 49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4EE"/>
            </a:solidFill>
          </a:ln>
        </p:spPr>
      </p:sp>
      <p:sp>
        <p:nvSpPr>
          <p:cNvPr id="42" name="TokenHub｜统一模型入口">
            <a:extLst xmlns:a="http://schemas.openxmlformats.org/drawingml/2006/main">
              <a:ext uri="{FF2B5EF4-FFF2-40B4-BE49-F238E27FC236}">
                <a16:creationId xmlns:a16="http://schemas.microsoft.com/office/drawing/2014/main" id="{D4DA26DE-453F-4949-B15E-837F8CD0C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8010525"/>
            <a:ext cx="4057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3121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131212"/>
                </a:solidFill>
                <a:latin typeface="Arial Unicode MS"/>
                <a:ea typeface="Arial Unicode MS"/>
                <a:cs typeface="Arial Unicode MS"/>
              </a:rPr>
              <a:t>TokenHub｜统一模型入口</a:t>
            </a:r>
          </a:p>
        </p:txBody>
      </p:sp>
      <p:sp>
        <p:nvSpPr>
          <p:cNvPr id="43" name="模型选择 · 路由 · 配额">
            <a:extLst xmlns:a="http://schemas.openxmlformats.org/drawingml/2006/main">
              <a:ext uri="{FF2B5EF4-FFF2-40B4-BE49-F238E27FC236}">
                <a16:creationId xmlns:a16="http://schemas.microsoft.com/office/drawing/2014/main" id="{E72429F4-2FA5-404B-968A-695C22728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8467725"/>
            <a:ext cx="4057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rPr>
              <a:t>模型选择 · 路由 · 配额</a:t>
            </a:r>
          </a:p>
        </p:txBody>
      </p:sp>
      <p:sp>
        <p:nvSpPr>
          <p:cNvPr id="44" name="用量计量 · 调用审计">
            <a:extLst xmlns:a="http://schemas.openxmlformats.org/drawingml/2006/main">
              <a:ext uri="{FF2B5EF4-FFF2-40B4-BE49-F238E27FC236}">
                <a16:creationId xmlns:a16="http://schemas.microsoft.com/office/drawing/2014/main" id="{501737C1-49BC-4201-9996-51B97C6AF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8763000"/>
            <a:ext cx="4057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rPr>
              <a:t>用量计量 · 调用审计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1C697BE-0D70-41F6-9AB8-C39097022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6953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D9A2489-D899-40B3-90EA-D2283FAB1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7858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9" name=""/>
          <p:cNvCxnSpPr>
            <a:stCxn xmlns:a="http://schemas.openxmlformats.org/drawingml/2006/main" id="45" idx="2"/>
            <a:endCxn xmlns:a="http://schemas.openxmlformats.org/drawingml/2006/main" id="46" idx="0"/>
          </p:cNvCxnSpPr>
          <p:nvPr/>
        </p:nvCxnSpPr>
        <p:spPr>
          <a:xfrm xmlns:a="http://schemas.openxmlformats.org/drawingml/2006/main">
            <a:off x="8715852" y="6954203"/>
            <a:ext cx="0" cy="903922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4CFF"/>
            </a:solidFill>
            <a:prstDash val="solid"/>
            <a:tailEnd type="triangle" w="med" len="med"/>
          </a:ln>
        </p:spPr>
      </p:cxnSp>
      <p:sp>
        <p:nvSpPr>
          <p:cNvPr id="48" name="模型调用">
            <a:extLst xmlns:a="http://schemas.openxmlformats.org/drawingml/2006/main">
              <a:ext uri="{FF2B5EF4-FFF2-40B4-BE49-F238E27FC236}">
                <a16:creationId xmlns:a16="http://schemas.microsoft.com/office/drawing/2014/main" id="{818B1549-1352-40DE-AF36-10D0E48A5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72675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34C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34CFF"/>
                </a:solidFill>
                <a:latin typeface="Arial Unicode MS"/>
                <a:ea typeface="Arial Unicode MS"/>
                <a:cs typeface="Arial Unicode MS"/>
              </a:rPr>
              <a:t>模型调用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420A779-8C7B-45FC-8D5A-0363313C6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8629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0A3508D-B41B-4FF1-A63F-43335910C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8629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3" name=""/>
          <p:cNvCxnSpPr>
            <a:stCxn xmlns:a="http://schemas.openxmlformats.org/drawingml/2006/main" id="49" idx="1"/>
            <a:endCxn xmlns:a="http://schemas.openxmlformats.org/drawingml/2006/main" id="50" idx="3"/>
          </p:cNvCxnSpPr>
          <p:nvPr/>
        </p:nvCxnSpPr>
        <p:spPr>
          <a:xfrm xmlns:a="http://schemas.openxmlformats.org/drawingml/2006/main" flipH="1">
            <a:off x="4058603" y="8630127"/>
            <a:ext cx="2418397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4CFF"/>
            </a:solidFill>
            <a:prstDash val="solid"/>
            <a:tailEnd type="triangle" w="med" len="med"/>
          </a:ln>
        </p:spPr>
      </p:cxnSp>
      <p:sp>
        <p:nvSpPr>
          <p:cNvPr id="52" name="敏感任务仅内部">
            <a:extLst xmlns:a="http://schemas.openxmlformats.org/drawingml/2006/main">
              <a:ext uri="{FF2B5EF4-FFF2-40B4-BE49-F238E27FC236}">
                <a16:creationId xmlns:a16="http://schemas.microsoft.com/office/drawing/2014/main" id="{0FB124C1-4401-4658-95ED-FF4A8EDED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82486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34C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34CFF"/>
                </a:solidFill>
                <a:latin typeface="Arial Unicode MS"/>
                <a:ea typeface="Arial Unicode MS"/>
                <a:cs typeface="Arial Unicode MS"/>
              </a:rPr>
              <a:t>敏感任务仅内部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8556C50-700D-426F-B533-FE1EEC27B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0600" y="7858125"/>
            <a:ext cx="2362200" cy="1552575"/>
          </a:xfrm>
          <a:prstGeom xmlns:a="http://schemas.openxmlformats.org/drawingml/2006/main" prst="roundRect">
            <a:avLst>
              <a:gd name="adj" fmla="val 49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4EE"/>
            </a:solidFill>
          </a:ln>
        </p:spPr>
      </p:sp>
      <p:sp>
        <p:nvSpPr>
          <p:cNvPr id="54" name="SaaS 模型 API">
            <a:extLst xmlns:a="http://schemas.openxmlformats.org/drawingml/2006/main">
              <a:ext uri="{FF2B5EF4-FFF2-40B4-BE49-F238E27FC236}">
                <a16:creationId xmlns:a16="http://schemas.microsoft.com/office/drawing/2014/main" id="{9BD0CE05-8C28-47A6-A967-76919CA03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0150" y="8010525"/>
            <a:ext cx="1943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3121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131212"/>
                </a:solidFill>
                <a:latin typeface="Arial Unicode MS"/>
                <a:ea typeface="Arial Unicode MS"/>
                <a:cs typeface="Arial Unicode MS"/>
              </a:rPr>
              <a:t>SaaS 模型 API</a:t>
            </a:r>
          </a:p>
        </p:txBody>
      </p:sp>
      <p:sp>
        <p:nvSpPr>
          <p:cNvPr id="55" name="经授权的外部服务">
            <a:extLst xmlns:a="http://schemas.openxmlformats.org/drawingml/2006/main">
              <a:ext uri="{FF2B5EF4-FFF2-40B4-BE49-F238E27FC236}">
                <a16:creationId xmlns:a16="http://schemas.microsoft.com/office/drawing/2014/main" id="{3C4648E7-C69B-498E-A514-CDA387BB3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0150" y="8467725"/>
            <a:ext cx="1943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rPr>
              <a:t>经授权的外部服务</a:t>
            </a:r>
          </a:p>
        </p:txBody>
      </p:sp>
      <p:sp>
        <p:nvSpPr>
          <p:cNvPr id="56" name="外部额度 / 按调用计费">
            <a:extLst xmlns:a="http://schemas.openxmlformats.org/drawingml/2006/main">
              <a:ext uri="{FF2B5EF4-FFF2-40B4-BE49-F238E27FC236}">
                <a16:creationId xmlns:a16="http://schemas.microsoft.com/office/drawing/2014/main" id="{7FF60BB2-37A1-4E52-840E-B803B0CB2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0150" y="8763000"/>
            <a:ext cx="1943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rPr>
              <a:t>外部额度 / 按调用计费</a:t>
            </a:r>
          </a:p>
        </p:txBody>
      </p:sp>
      <p:sp>
        <p:nvSpPr>
          <p:cNvPr id="57" name="外部 Token · 可选">
            <a:extLst xmlns:a="http://schemas.openxmlformats.org/drawingml/2006/main">
              <a:ext uri="{FF2B5EF4-FFF2-40B4-BE49-F238E27FC236}">
                <a16:creationId xmlns:a16="http://schemas.microsoft.com/office/drawing/2014/main" id="{177D9552-31C1-4AF8-B33A-9CD9A3779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0600" y="74866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4C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34CFF"/>
                </a:solidFill>
                <a:latin typeface="Arial Unicode MS"/>
                <a:ea typeface="Arial Unicode MS"/>
                <a:cs typeface="Arial Unicode MS"/>
              </a:rPr>
              <a:t>外部 Token · 可选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D5ED29F-D481-4C07-B717-99B0E39B4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8629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53070C0-01E0-4635-8C41-5249AB67C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0600" y="8629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2" name=""/>
          <p:cNvCxnSpPr>
            <a:stCxn xmlns:a="http://schemas.openxmlformats.org/drawingml/2006/main" id="58" idx="3"/>
            <a:endCxn xmlns:a="http://schemas.openxmlformats.org/drawingml/2006/main" id="59" idx="1"/>
          </p:cNvCxnSpPr>
          <p:nvPr/>
        </p:nvCxnSpPr>
        <p:spPr>
          <a:xfrm xmlns:a="http://schemas.openxmlformats.org/drawingml/2006/main">
            <a:off x="10954703" y="8630127"/>
            <a:ext cx="1465897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4CFF"/>
            </a:solidFill>
            <a:prstDash val="solid"/>
            <a:tailEnd type="triangle" w="med" len="med"/>
          </a:ln>
        </p:spPr>
      </p:cxnSp>
      <p:sp>
        <p:nvSpPr>
          <p:cNvPr id="61" name="允许外发">
            <a:extLst xmlns:a="http://schemas.openxmlformats.org/drawingml/2006/main">
              <a:ext uri="{FF2B5EF4-FFF2-40B4-BE49-F238E27FC236}">
                <a16:creationId xmlns:a16="http://schemas.microsoft.com/office/drawing/2014/main" id="{7A5D0010-F2ED-4654-AC5D-4A9EF56C9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8086725"/>
            <a:ext cx="1190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34C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34CFF"/>
                </a:solidFill>
                <a:latin typeface="Arial Unicode MS"/>
                <a:ea typeface="Arial Unicode MS"/>
                <a:cs typeface="Arial Unicode MS"/>
              </a:rPr>
              <a:t>允许外发</a:t>
            </a:r>
          </a:p>
        </p:txBody>
      </p:sp>
      <p:sp>
        <p:nvSpPr>
          <p:cNvPr id="62" name="+ 已授权">
            <a:extLst xmlns:a="http://schemas.openxmlformats.org/drawingml/2006/main">
              <a:ext uri="{FF2B5EF4-FFF2-40B4-BE49-F238E27FC236}">
                <a16:creationId xmlns:a16="http://schemas.microsoft.com/office/drawing/2014/main" id="{C5565BAA-A360-49C6-98BB-509F87513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8343900"/>
            <a:ext cx="1190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34C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134CFF"/>
                </a:solidFill>
                <a:latin typeface="Arial Unicode MS"/>
                <a:ea typeface="Arial Unicode MS"/>
                <a:cs typeface="Arial Unicode MS"/>
              </a:rPr>
              <a:t>+ 已授权</a:t>
            </a:r>
          </a:p>
        </p:txBody>
      </p:sp>
      <p:sp>
        <p:nvSpPr>
          <p:cNvPr id="63" name="调用前检查策略">
            <a:extLst xmlns:a="http://schemas.openxmlformats.org/drawingml/2006/main">
              <a:ext uri="{FF2B5EF4-FFF2-40B4-BE49-F238E27FC236}">
                <a16:creationId xmlns:a16="http://schemas.microsoft.com/office/drawing/2014/main" id="{4D82286A-17C4-452E-8775-9ED9E8776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6219825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rPr>
              <a:t>调用前检查策略</a:t>
            </a:r>
          </a:p>
        </p:txBody>
      </p:sp>
      <p:sp>
        <p:nvSpPr>
          <p:cNvPr id="64" name="与必要脱敏">
            <a:extLst xmlns:a="http://schemas.openxmlformats.org/drawingml/2006/main">
              <a:ext uri="{FF2B5EF4-FFF2-40B4-BE49-F238E27FC236}">
                <a16:creationId xmlns:a16="http://schemas.microsoft.com/office/drawing/2014/main" id="{9022B35A-5737-445E-8D75-6D1A7A70F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6543675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rPr>
              <a:t>与必要脱敏</a:t>
            </a:r>
          </a:p>
        </p:txBody>
      </p:sp>
      <p:sp>
        <p:nvSpPr>
          <p:cNvPr id="65" name="支持仅使用内部模型">
            <a:extLst xmlns:a="http://schemas.openxmlformats.org/drawingml/2006/main">
              <a:ext uri="{FF2B5EF4-FFF2-40B4-BE49-F238E27FC236}">
                <a16:creationId xmlns:a16="http://schemas.microsoft.com/office/drawing/2014/main" id="{7A04C84D-6D42-4C68-AE00-4F37E0C7C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6943725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rPr>
              <a:t>支持仅使用内部模型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A951CF5-A27A-40C6-A68C-A0BB38F92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915525"/>
            <a:ext cx="14325600" cy="752475"/>
          </a:xfrm>
          <a:prstGeom xmlns:a="http://schemas.openxmlformats.org/drawingml/2006/main" prst="roundRect">
            <a:avLst>
              <a:gd name="adj" fmla="val 101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4EE"/>
            </a:solidFill>
          </a:ln>
        </p:spPr>
      </p:sp>
      <p:sp>
        <p:nvSpPr>
          <p:cNvPr id="67" name="业务可信">
            <a:extLst xmlns:a="http://schemas.openxmlformats.org/drawingml/2006/main">
              <a:ext uri="{FF2B5EF4-FFF2-40B4-BE49-F238E27FC236}">
                <a16:creationId xmlns:a16="http://schemas.microsoft.com/office/drawing/2014/main" id="{236F61CF-2182-4219-81F6-3869A8EC7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1077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3121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131212"/>
                </a:solidFill>
                <a:latin typeface="Arial Unicode MS"/>
                <a:ea typeface="Arial Unicode MS"/>
                <a:cs typeface="Arial Unicode MS"/>
              </a:rPr>
              <a:t>业务可信</a:t>
            </a:r>
          </a:p>
        </p:txBody>
      </p:sp>
      <p:sp>
        <p:nvSpPr>
          <p:cNvPr id="68" name="场景评测 · 依据溯源 · 人工复核">
            <a:extLst xmlns:a="http://schemas.openxmlformats.org/drawingml/2006/main">
              <a:ext uri="{FF2B5EF4-FFF2-40B4-BE49-F238E27FC236}">
                <a16:creationId xmlns:a16="http://schemas.microsoft.com/office/drawing/2014/main" id="{C92051B6-6DB2-427D-9AF4-F88D6097A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325100"/>
            <a:ext cx="647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rPr>
              <a:t>场景评测 · 依据溯源 · 人工复核</a:t>
            </a:r>
          </a:p>
        </p:txBody>
      </p:sp>
      <p:sp>
        <p:nvSpPr>
          <p:cNvPr id="69" name="数据安全可信">
            <a:extLst xmlns:a="http://schemas.openxmlformats.org/drawingml/2006/main">
              <a:ext uri="{FF2B5EF4-FFF2-40B4-BE49-F238E27FC236}">
                <a16:creationId xmlns:a16="http://schemas.microsoft.com/office/drawing/2014/main" id="{8F6267AA-4696-48A6-AB15-D61902374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0010775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3121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131212"/>
                </a:solidFill>
                <a:latin typeface="Arial Unicode MS"/>
                <a:ea typeface="Arial Unicode MS"/>
                <a:cs typeface="Arial Unicode MS"/>
              </a:rPr>
              <a:t>数据安全可信</a:t>
            </a:r>
          </a:p>
        </p:txBody>
      </p:sp>
      <p:sp>
        <p:nvSpPr>
          <p:cNvPr id="70" name="可信环境 · 最小权限 · 数据边界">
            <a:extLst xmlns:a="http://schemas.openxmlformats.org/drawingml/2006/main">
              <a:ext uri="{FF2B5EF4-FFF2-40B4-BE49-F238E27FC236}">
                <a16:creationId xmlns:a16="http://schemas.microsoft.com/office/drawing/2014/main" id="{36BBF1F1-2B17-401E-A9B7-5E69DBFC8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0325100"/>
            <a:ext cx="657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rPr>
              <a:t>可信环境 · 最小权限 · 数据边界</a:t>
            </a:r>
          </a:p>
        </p:txBody>
      </p:sp>
      <p:sp>
        <p:nvSpPr>
          <p:cNvPr id="71" name="箭头表示调用请求方向，响应返回省略。">
            <a:extLst xmlns:a="http://schemas.openxmlformats.org/drawingml/2006/main">
              <a:ext uri="{FF2B5EF4-FFF2-40B4-BE49-F238E27FC236}">
                <a16:creationId xmlns:a16="http://schemas.microsoft.com/office/drawing/2014/main" id="{5DED1503-97AE-4EBC-AF50-5E0093D23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791825"/>
            <a:ext cx="1400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rPr>
              <a:t>箭头表示调用请求方向，响应返回省略。</a:t>
            </a:r>
          </a:p>
        </p:txBody>
      </p:sp>
      <p:sp>
        <p:nvSpPr>
          <p:cNvPr id="72" name="Token 是模型推理用量；API Key 是访问凭据，由 ">
            <a:extLst xmlns:a="http://schemas.openxmlformats.org/drawingml/2006/main">
              <a:ext uri="{FF2B5EF4-FFF2-40B4-BE49-F238E27FC236}">
                <a16:creationId xmlns:a16="http://schemas.microsoft.com/office/drawing/2014/main" id="{033C38F0-BA89-4F25-9239-7041FC9C9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68050"/>
            <a:ext cx="1419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rPr>
              <a:t>Token 是模型推理用量；API Key 是访问凭据，由 TokenHub 统一管理。</a:t>
            </a:r>
          </a:p>
        </p:txBody>
      </p:sp>
    </p:spTree>
    <p:extLst>
      <p:ext uri="{BB962C8B-B14F-4D97-AF65-F5344CB8AC3E}">
        <p14:creationId xmlns:p14="http://schemas.microsoft.com/office/powerpoint/2010/main" val="6114945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6" name="工业智能体平台">
            <a:extLst xmlns:a="http://schemas.openxmlformats.org/drawingml/2006/main">
              <a:ext uri="{FF2B5EF4-FFF2-40B4-BE49-F238E27FC236}">
                <a16:creationId xmlns:a16="http://schemas.microsoft.com/office/drawing/2014/main" id="{EF241F3F-8D80-4B35-96B5-1EB6B4D52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1390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3121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600" b="1">
                <a:solidFill>
                  <a:srgbClr val="131212"/>
                </a:solidFill>
                <a:latin typeface="Arial Unicode MS"/>
                <a:ea typeface="Arial Unicode MS"/>
                <a:cs typeface="Arial Unicode MS"/>
              </a:rPr>
              <a:t>工业智能体平台</a:t>
            </a:r>
          </a:p>
        </p:txBody>
      </p:sp>
      <p:sp>
        <p:nvSpPr>
          <p:cNvPr id="2" name="三种方案形态 · 统一评测接入 · 两种部署方式">
            <a:extLst xmlns:a="http://schemas.openxmlformats.org/drawingml/2006/main">
              <a:ext uri="{FF2B5EF4-FFF2-40B4-BE49-F238E27FC236}">
                <a16:creationId xmlns:a16="http://schemas.microsoft.com/office/drawing/2014/main" id="{421AD4D6-9853-402F-8235-62FD3B49E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42975"/>
            <a:ext cx="1400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rPr>
              <a:t>三种方案形态 · 统一评测接入 · 两种部署方式</a:t>
            </a:r>
          </a:p>
        </p:txBody>
      </p:sp>
      <p:sp>
        <p:nvSpPr>
          <p:cNvPr id="3" name="厂商示例：圆木智能 · 炽橙科技 · 同元软件 · 浩辰科技">
            <a:extLst xmlns:a="http://schemas.openxmlformats.org/drawingml/2006/main">
              <a:ext uri="{FF2B5EF4-FFF2-40B4-BE49-F238E27FC236}">
                <a16:creationId xmlns:a16="http://schemas.microsoft.com/office/drawing/2014/main" id="{B4503E5E-234E-400C-9220-2CCA43E9C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1428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rPr>
              <a:t>厂商示例：圆木智能 · 炽橙科技 · 同元软件 · 浩辰科技 · 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677F1C-342E-4151-B658-A05EE869B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66900"/>
            <a:ext cx="4381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4EE"/>
            </a:solidFill>
          </a:ln>
        </p:spPr>
      </p:sp>
      <p:sp>
        <p:nvSpPr>
          <p:cNvPr id="5" name="专业模型">
            <a:extLst xmlns:a="http://schemas.openxmlformats.org/drawingml/2006/main">
              <a:ext uri="{FF2B5EF4-FFF2-40B4-BE49-F238E27FC236}">
                <a16:creationId xmlns:a16="http://schemas.microsoft.com/office/drawing/2014/main" id="{F7017C43-A094-43CD-A1AA-494FB4BA7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19300"/>
            <a:ext cx="3962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3121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31212"/>
                </a:solidFill>
                <a:latin typeface="Arial Unicode MS"/>
                <a:ea typeface="Arial Unicode MS"/>
                <a:cs typeface="Arial Unicode MS"/>
              </a:rPr>
              <a:t>专业模型</a:t>
            </a:r>
          </a:p>
        </p:txBody>
      </p:sp>
      <p:sp>
        <p:nvSpPr>
          <p:cNvPr id="6" name="行业推理 · 识别 · 预测">
            <a:extLst xmlns:a="http://schemas.openxmlformats.org/drawingml/2006/main">
              <a:ext uri="{FF2B5EF4-FFF2-40B4-BE49-F238E27FC236}">
                <a16:creationId xmlns:a16="http://schemas.microsoft.com/office/drawing/2014/main" id="{24E199E3-5230-4B44-A144-E4492247E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3962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rPr>
              <a:t>行业推理 · 识别 · 预测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0D282A-A30B-4DF4-826F-75DE4F58C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866900"/>
            <a:ext cx="4381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4EE"/>
            </a:solidFill>
          </a:ln>
        </p:spPr>
      </p:sp>
      <p:sp>
        <p:nvSpPr>
          <p:cNvPr id="8" name="工业智能体">
            <a:extLst xmlns:a="http://schemas.openxmlformats.org/drawingml/2006/main">
              <a:ext uri="{FF2B5EF4-FFF2-40B4-BE49-F238E27FC236}">
                <a16:creationId xmlns:a16="http://schemas.microsoft.com/office/drawing/2014/main" id="{FA4C6F31-933A-42A0-A695-021DA9280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019300"/>
            <a:ext cx="3962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3121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31212"/>
                </a:solidFill>
                <a:latin typeface="Arial Unicode MS"/>
                <a:ea typeface="Arial Unicode MS"/>
                <a:cs typeface="Arial Unicode MS"/>
              </a:rPr>
              <a:t>工业智能体</a:t>
            </a:r>
          </a:p>
        </p:txBody>
      </p:sp>
      <p:sp>
        <p:nvSpPr>
          <p:cNvPr id="9" name="面向特定业务任务的 Agent">
            <a:extLst xmlns:a="http://schemas.openxmlformats.org/drawingml/2006/main">
              <a:ext uri="{FF2B5EF4-FFF2-40B4-BE49-F238E27FC236}">
                <a16:creationId xmlns:a16="http://schemas.microsoft.com/office/drawing/2014/main" id="{917656D0-F03F-4D96-8B8E-ECC0FCCF7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476500"/>
            <a:ext cx="3962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rPr>
              <a:t>面向特定业务任务的 Agent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292EBA-67B8-4CAB-B393-D954A78F0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1866900"/>
            <a:ext cx="4381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4EE"/>
            </a:solidFill>
          </a:ln>
        </p:spPr>
      </p:sp>
      <p:sp>
        <p:nvSpPr>
          <p:cNvPr id="11" name="完整业务应用">
            <a:extLst xmlns:a="http://schemas.openxmlformats.org/drawingml/2006/main">
              <a:ext uri="{FF2B5EF4-FFF2-40B4-BE49-F238E27FC236}">
                <a16:creationId xmlns:a16="http://schemas.microsoft.com/office/drawing/2014/main" id="{51CA1296-853D-4C85-90E2-932D55F31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019300"/>
            <a:ext cx="3962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3121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31212"/>
                </a:solidFill>
                <a:latin typeface="Arial Unicode MS"/>
                <a:ea typeface="Arial Unicode MS"/>
                <a:cs typeface="Arial Unicode MS"/>
              </a:rPr>
              <a:t>完整业务应用</a:t>
            </a:r>
          </a:p>
        </p:txBody>
      </p:sp>
      <p:sp>
        <p:nvSpPr>
          <p:cNvPr id="12" name="自带界面 · 流程 · 业务逻辑">
            <a:extLst xmlns:a="http://schemas.openxmlformats.org/drawingml/2006/main">
              <a:ext uri="{FF2B5EF4-FFF2-40B4-BE49-F238E27FC236}">
                <a16:creationId xmlns:a16="http://schemas.microsoft.com/office/drawing/2014/main" id="{F63E9965-62E1-40EE-AB60-E53379C54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476500"/>
            <a:ext cx="3962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rPr>
              <a:t>自带界面 · 流程 · 业务逻辑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97C3CC-E2B0-42C5-86D2-4347DC352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95625"/>
            <a:ext cx="143256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DF1F8"/>
          </a:solidFill>
          <a:ln xmlns:a="http://schemas.openxmlformats.org/drawingml/2006/main" w="9525">
            <a:solidFill>
              <a:srgbClr val="DFE4EE"/>
            </a:solidFill>
          </a:ln>
        </p:spPr>
      </p:sp>
      <p:sp>
        <p:nvSpPr>
          <p:cNvPr id="14" name="场景评测">
            <a:extLst xmlns:a="http://schemas.openxmlformats.org/drawingml/2006/main">
              <a:ext uri="{FF2B5EF4-FFF2-40B4-BE49-F238E27FC236}">
                <a16:creationId xmlns:a16="http://schemas.microsoft.com/office/drawing/2014/main" id="{0C31E4E2-0A65-47EE-915E-6EABA6A17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171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3121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131212"/>
                </a:solidFill>
                <a:latin typeface="Arial Unicode MS"/>
                <a:ea typeface="Arial Unicode MS"/>
                <a:cs typeface="Arial Unicode MS"/>
              </a:rPr>
              <a:t>场景评测</a:t>
            </a:r>
          </a:p>
        </p:txBody>
      </p:sp>
      <p:sp>
        <p:nvSpPr>
          <p:cNvPr id="15" name="真实任务与验收标准｜效果 · 安全 · 时延 · 成本 · ">
            <a:extLst xmlns:a="http://schemas.openxmlformats.org/drawingml/2006/main">
              <a:ext uri="{FF2B5EF4-FFF2-40B4-BE49-F238E27FC236}">
                <a16:creationId xmlns:a16="http://schemas.microsoft.com/office/drawing/2014/main" id="{36178E49-B02E-4A10-A07F-ADE1AC6F1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257550"/>
            <a:ext cx="1200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rPr>
              <a:t>真实任务与验收标准｜效果 · 安全 · 时延 · 成本 · 部署适配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940577-2514-45CC-8468-891882721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7813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320794-B3AA-4849-8C20-E4851B746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095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3" name="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2648427" y="2782253"/>
            <a:ext cx="0" cy="313372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590A5"/>
            </a:solidFill>
            <a:prstDash val="dash"/>
            <a:tailEnd type="triangle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CB5F82-2DB2-4528-96F8-9267F0145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743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2B2731-4B4E-416E-BB4A-25C696088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095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6" name=""/>
          <p:cNvCxnSpPr>
            <a:stCxn xmlns:a="http://schemas.openxmlformats.org/drawingml/2006/main" id="19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>
            <a:off x="2648427" y="3744278"/>
            <a:ext cx="0" cy="351472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590A5"/>
            </a:solidFill>
            <a:prstDash val="dash"/>
            <a:tailEnd type="triangle" w="med" len="me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62362E-5EBE-4AFB-8803-B90CE768D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813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B2468D-D710-422B-BE01-8D039EB36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95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9" name=""/>
          <p:cNvCxnSpPr>
            <a:stCxn xmlns:a="http://schemas.openxmlformats.org/drawingml/2006/main" id="2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7620477" y="2782253"/>
            <a:ext cx="0" cy="313372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590A5"/>
            </a:solidFill>
            <a:prstDash val="dash"/>
            <a:tailEnd type="triangle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A470DF-E492-43ED-BEE2-11C2B1183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743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F84273-3F20-432A-8B9B-4F8AB24EB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095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2" name=""/>
          <p:cNvCxnSpPr>
            <a:stCxn xmlns:a="http://schemas.openxmlformats.org/drawingml/2006/main" id="25" idx="2"/>
            <a:endCxn xmlns:a="http://schemas.openxmlformats.org/drawingml/2006/main" id="26" idx="0"/>
          </p:cNvCxnSpPr>
          <p:nvPr/>
        </p:nvCxnSpPr>
        <p:spPr>
          <a:xfrm xmlns:a="http://schemas.openxmlformats.org/drawingml/2006/main">
            <a:off x="7620477" y="3744278"/>
            <a:ext cx="0" cy="351472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590A5"/>
            </a:solidFill>
            <a:prstDash val="dash"/>
            <a:tailEnd type="triangle" w="med" len="me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4774F5C-7F8A-496F-8BC3-EE046AE2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2050" y="27813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408AAB5-B225-4232-BA01-B3E67D5A5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2050" y="3095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5" name=""/>
          <p:cNvCxnSpPr>
            <a:stCxn xmlns:a="http://schemas.openxmlformats.org/drawingml/2006/main" id="28" idx="2"/>
            <a:endCxn xmlns:a="http://schemas.openxmlformats.org/drawingml/2006/main" id="29" idx="0"/>
          </p:cNvCxnSpPr>
          <p:nvPr/>
        </p:nvCxnSpPr>
        <p:spPr>
          <a:xfrm xmlns:a="http://schemas.openxmlformats.org/drawingml/2006/main">
            <a:off x="12592527" y="2782253"/>
            <a:ext cx="0" cy="313372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590A5"/>
            </a:solidFill>
            <a:prstDash val="dash"/>
            <a:tailEnd type="triangle" w="med" len="med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AB5F6EB-C962-4DC3-91CC-0AB489DD7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2050" y="3743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D9ABA9A-58A1-4802-9E3E-B8F07384B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2050" y="4095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8" name=""/>
          <p:cNvCxnSpPr>
            <a:stCxn xmlns:a="http://schemas.openxmlformats.org/drawingml/2006/main" id="31" idx="2"/>
            <a:endCxn xmlns:a="http://schemas.openxmlformats.org/drawingml/2006/main" id="32" idx="0"/>
          </p:cNvCxnSpPr>
          <p:nvPr/>
        </p:nvCxnSpPr>
        <p:spPr>
          <a:xfrm xmlns:a="http://schemas.openxmlformats.org/drawingml/2006/main">
            <a:off x="12592527" y="3744278"/>
            <a:ext cx="0" cy="351472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590A5"/>
            </a:solidFill>
            <a:prstDash val="dash"/>
            <a:tailEnd type="triangle" w="med" len="med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2ADD457-16A1-4CDF-8CCB-A2B72478F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5750"/>
            <a:ext cx="4048125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4EE"/>
            </a:solidFill>
          </a:ln>
        </p:spPr>
      </p:sp>
      <p:sp>
        <p:nvSpPr>
          <p:cNvPr id="35" name="TokenHub">
            <a:extLst xmlns:a="http://schemas.openxmlformats.org/drawingml/2006/main">
              <a:ext uri="{FF2B5EF4-FFF2-40B4-BE49-F238E27FC236}">
                <a16:creationId xmlns:a16="http://schemas.microsoft.com/office/drawing/2014/main" id="{5F30A1EC-DC32-4BAB-ACDF-B88C4934A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48150"/>
            <a:ext cx="36290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3121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31212"/>
                </a:solidFill>
                <a:latin typeface="Arial Unicode MS"/>
                <a:ea typeface="Arial Unicode MS"/>
                <a:cs typeface="Arial Unicode MS"/>
              </a:rPr>
              <a:t>TokenHub</a:t>
            </a:r>
          </a:p>
        </p:txBody>
      </p:sp>
      <p:sp>
        <p:nvSpPr>
          <p:cNvPr id="36" name="模型服务接入与统一路由">
            <a:extLst xmlns:a="http://schemas.openxmlformats.org/drawingml/2006/main">
              <a:ext uri="{FF2B5EF4-FFF2-40B4-BE49-F238E27FC236}">
                <a16:creationId xmlns:a16="http://schemas.microsoft.com/office/drawing/2014/main" id="{D0131782-AB2A-4201-90C1-CAF596389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05350"/>
            <a:ext cx="36290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rPr>
              <a:t>模型服务接入与统一路由</a:t>
            </a:r>
          </a:p>
        </p:txBody>
      </p:sp>
      <p:sp>
        <p:nvSpPr>
          <p:cNvPr id="37" name="模型选择 · 配额 · 计量 · 审计">
            <a:extLst xmlns:a="http://schemas.openxmlformats.org/drawingml/2006/main">
              <a:ext uri="{FF2B5EF4-FFF2-40B4-BE49-F238E27FC236}">
                <a16:creationId xmlns:a16="http://schemas.microsoft.com/office/drawing/2014/main" id="{1F290C7E-FFB0-42A3-8026-D504C7342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00625"/>
            <a:ext cx="36290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rPr>
              <a:t>模型选择 · 配额 · 计量 · 审计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BB0561B-9789-431B-9E4A-93CCC5FD3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95750"/>
            <a:ext cx="3762375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4EE"/>
            </a:solidFill>
          </a:ln>
        </p:spPr>
      </p:sp>
      <p:sp>
        <p:nvSpPr>
          <p:cNvPr id="39" name="Agent Runtime">
            <a:extLst xmlns:a="http://schemas.openxmlformats.org/drawingml/2006/main">
              <a:ext uri="{FF2B5EF4-FFF2-40B4-BE49-F238E27FC236}">
                <a16:creationId xmlns:a16="http://schemas.microsoft.com/office/drawing/2014/main" id="{E0F0BEB5-2248-4925-992B-F869780E6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248150"/>
            <a:ext cx="33432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3121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31212"/>
                </a:solidFill>
                <a:latin typeface="Arial Unicode MS"/>
                <a:ea typeface="Arial Unicode MS"/>
                <a:cs typeface="Arial Unicode MS"/>
              </a:rPr>
              <a:t>Agent Runtime</a:t>
            </a:r>
          </a:p>
        </p:txBody>
      </p:sp>
      <p:sp>
        <p:nvSpPr>
          <p:cNvPr id="40" name="智能体接入与运行适配">
            <a:extLst xmlns:a="http://schemas.openxmlformats.org/drawingml/2006/main">
              <a:ext uri="{FF2B5EF4-FFF2-40B4-BE49-F238E27FC236}">
                <a16:creationId xmlns:a16="http://schemas.microsoft.com/office/drawing/2014/main" id="{9AE389DC-55DD-4EAC-87B2-C966A98F9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705350"/>
            <a:ext cx="33432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rPr>
              <a:t>智能体接入与运行适配</a:t>
            </a:r>
          </a:p>
        </p:txBody>
      </p:sp>
      <p:sp>
        <p:nvSpPr>
          <p:cNvPr id="41" name="任务编排 · 执行监控 · 异常处理">
            <a:extLst xmlns:a="http://schemas.openxmlformats.org/drawingml/2006/main">
              <a:ext uri="{FF2B5EF4-FFF2-40B4-BE49-F238E27FC236}">
                <a16:creationId xmlns:a16="http://schemas.microsoft.com/office/drawing/2014/main" id="{F4DAD518-1176-474E-A306-2E25D0EC6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000625"/>
            <a:ext cx="33432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rPr>
              <a:t>任务编排 · 执行监控 · 异常处理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CD17D51-B47F-4FF8-B3F8-A1C3B2DF3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095750"/>
            <a:ext cx="4381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4EE"/>
            </a:solidFill>
          </a:ln>
        </p:spPr>
      </p:sp>
      <p:sp>
        <p:nvSpPr>
          <p:cNvPr id="43" name="应用集成">
            <a:extLst xmlns:a="http://schemas.openxmlformats.org/drawingml/2006/main">
              <a:ext uri="{FF2B5EF4-FFF2-40B4-BE49-F238E27FC236}">
                <a16:creationId xmlns:a16="http://schemas.microsoft.com/office/drawing/2014/main" id="{FFB8D991-7FBA-44A5-97E6-D944E9E73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4248150"/>
            <a:ext cx="3962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3121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31212"/>
                </a:solidFill>
                <a:latin typeface="Arial Unicode MS"/>
                <a:ea typeface="Arial Unicode MS"/>
                <a:cs typeface="Arial Unicode MS"/>
              </a:rPr>
              <a:t>应用集成</a:t>
            </a:r>
          </a:p>
        </p:txBody>
      </p:sp>
      <p:sp>
        <p:nvSpPr>
          <p:cNvPr id="44" name="应用入口 / API / Connector">
            <a:extLst xmlns:a="http://schemas.openxmlformats.org/drawingml/2006/main">
              <a:ext uri="{FF2B5EF4-FFF2-40B4-BE49-F238E27FC236}">
                <a16:creationId xmlns:a16="http://schemas.microsoft.com/office/drawing/2014/main" id="{A246197D-FA25-4EE0-97C8-16E264D94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4705350"/>
            <a:ext cx="3962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rPr>
              <a:t>应用入口 / API / Connector</a:t>
            </a:r>
          </a:p>
        </p:txBody>
      </p:sp>
      <p:sp>
        <p:nvSpPr>
          <p:cNvPr id="45" name="保留原有界面与业务流程">
            <a:extLst xmlns:a="http://schemas.openxmlformats.org/drawingml/2006/main">
              <a:ext uri="{FF2B5EF4-FFF2-40B4-BE49-F238E27FC236}">
                <a16:creationId xmlns:a16="http://schemas.microsoft.com/office/drawing/2014/main" id="{9F00C76A-FADD-4F9D-9D87-9F22DAAB5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000625"/>
            <a:ext cx="3962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rPr>
              <a:t>保留原有界面与业务流程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55C1271-6078-4BCB-8780-69D877B92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724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6F5744F-7062-4848-B004-C2D74C527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724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3" name=""/>
          <p:cNvCxnSpPr>
            <a:stCxn xmlns:a="http://schemas.openxmlformats.org/drawingml/2006/main" id="46" idx="1"/>
            <a:endCxn xmlns:a="http://schemas.openxmlformats.org/drawingml/2006/main" id="47" idx="3"/>
          </p:cNvCxnSpPr>
          <p:nvPr/>
        </p:nvCxnSpPr>
        <p:spPr>
          <a:xfrm xmlns:a="http://schemas.openxmlformats.org/drawingml/2006/main" flipH="1">
            <a:off x="4506278" y="4724877"/>
            <a:ext cx="1589722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4CFF"/>
            </a:solidFill>
            <a:prstDash val="solid"/>
            <a:tailEnd type="triangle" w="med" len="med"/>
          </a:ln>
        </p:spPr>
      </p:cxnSp>
      <p:sp>
        <p:nvSpPr>
          <p:cNvPr id="49" name="模型调用">
            <a:extLst xmlns:a="http://schemas.openxmlformats.org/drawingml/2006/main">
              <a:ext uri="{FF2B5EF4-FFF2-40B4-BE49-F238E27FC236}">
                <a16:creationId xmlns:a16="http://schemas.microsoft.com/office/drawing/2014/main" id="{1C17A21F-0F06-4A6E-9284-08EC75598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371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34C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34CFF"/>
                </a:solidFill>
                <a:latin typeface="Arial Unicode MS"/>
                <a:ea typeface="Arial Unicode MS"/>
                <a:cs typeface="Arial Unicode MS"/>
              </a:rPr>
              <a:t>模型调用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FB1E9F2-3440-486B-8D4C-63F3CB8BB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81650"/>
            <a:ext cx="143256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4EE"/>
            </a:solidFill>
          </a:ln>
        </p:spPr>
      </p:sp>
      <p:sp>
        <p:nvSpPr>
          <p:cNvPr id="51" name="Connectors｜连接系统与设备">
            <a:extLst xmlns:a="http://schemas.openxmlformats.org/drawingml/2006/main">
              <a:ext uri="{FF2B5EF4-FFF2-40B4-BE49-F238E27FC236}">
                <a16:creationId xmlns:a16="http://schemas.microsoft.com/office/drawing/2014/main" id="{11694B6F-CC2B-4B29-8670-79F22D985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86425"/>
            <a:ext cx="466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3121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31212"/>
                </a:solidFill>
                <a:latin typeface="Arial Unicode MS"/>
                <a:ea typeface="Arial Unicode MS"/>
                <a:cs typeface="Arial Unicode MS"/>
              </a:rPr>
              <a:t>Connectors｜连接系统与设备</a:t>
            </a:r>
          </a:p>
        </p:txBody>
      </p:sp>
      <p:sp>
        <p:nvSpPr>
          <p:cNvPr id="52" name="知识库｜工艺、规则与经验">
            <a:extLst xmlns:a="http://schemas.openxmlformats.org/drawingml/2006/main">
              <a:ext uri="{FF2B5EF4-FFF2-40B4-BE49-F238E27FC236}">
                <a16:creationId xmlns:a16="http://schemas.microsoft.com/office/drawing/2014/main" id="{93EA111E-8E03-4D56-B4D5-D7968F0DB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5686425"/>
            <a:ext cx="466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3121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31212"/>
                </a:solidFill>
                <a:latin typeface="Arial Unicode MS"/>
                <a:ea typeface="Arial Unicode MS"/>
                <a:cs typeface="Arial Unicode MS"/>
              </a:rPr>
              <a:t>知识库｜工艺、规则与经验</a:t>
            </a:r>
          </a:p>
        </p:txBody>
      </p:sp>
      <p:sp>
        <p:nvSpPr>
          <p:cNvPr id="53" name="平台治理｜权限、发布与审计">
            <a:extLst xmlns:a="http://schemas.openxmlformats.org/drawingml/2006/main">
              <a:ext uri="{FF2B5EF4-FFF2-40B4-BE49-F238E27FC236}">
                <a16:creationId xmlns:a16="http://schemas.microsoft.com/office/drawing/2014/main" id="{1CBE6AE1-DCEE-4415-95B6-B5CF9549A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686425"/>
            <a:ext cx="436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3121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31212"/>
                </a:solidFill>
                <a:latin typeface="Arial Unicode MS"/>
                <a:ea typeface="Arial Unicode MS"/>
                <a:cs typeface="Arial Unicode MS"/>
              </a:rPr>
              <a:t>平台治理｜权限、发布与审计</a:t>
            </a:r>
          </a:p>
        </p:txBody>
      </p:sp>
      <p:sp>
        <p:nvSpPr>
          <p:cNvPr id="54" name="运行时按权限调用系统与检索知识；完整应用按接口条件集成。">
            <a:extLst xmlns:a="http://schemas.openxmlformats.org/drawingml/2006/main">
              <a:ext uri="{FF2B5EF4-FFF2-40B4-BE49-F238E27FC236}">
                <a16:creationId xmlns:a16="http://schemas.microsoft.com/office/drawing/2014/main" id="{C95A7CB8-5AC3-4EA2-9D35-85639650E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00750"/>
            <a:ext cx="1381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rPr>
              <a:t>运行时按权限调用系统与检索知识；完整应用按接口条件集成。</a:t>
            </a:r>
          </a:p>
        </p:txBody>
      </p:sp>
      <p:sp>
        <p:nvSpPr>
          <p:cNvPr id="55" name="模型供给｜独立于平台部署方式">
            <a:extLst xmlns:a="http://schemas.openxmlformats.org/drawingml/2006/main">
              <a:ext uri="{FF2B5EF4-FFF2-40B4-BE49-F238E27FC236}">
                <a16:creationId xmlns:a16="http://schemas.microsoft.com/office/drawing/2014/main" id="{85AEE939-4766-4885-9817-248FC4488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1381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3121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131212"/>
                </a:solidFill>
                <a:latin typeface="Arial Unicode MS"/>
                <a:ea typeface="Arial Unicode MS"/>
                <a:cs typeface="Arial Unicode MS"/>
              </a:rPr>
              <a:t>模型供给｜独立于平台部署方式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959F034-0A1F-48C0-85C6-26FB4100C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934200"/>
            <a:ext cx="4048125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4EE"/>
            </a:solidFill>
          </a:ln>
        </p:spPr>
      </p:sp>
      <p:sp>
        <p:nvSpPr>
          <p:cNvPr id="57" name="内部 Token">
            <a:extLst xmlns:a="http://schemas.openxmlformats.org/drawingml/2006/main">
              <a:ext uri="{FF2B5EF4-FFF2-40B4-BE49-F238E27FC236}">
                <a16:creationId xmlns:a16="http://schemas.microsoft.com/office/drawing/2014/main" id="{91CEB60C-246B-45BD-96E0-44A805106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086600"/>
            <a:ext cx="36290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3121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131212"/>
                </a:solidFill>
                <a:latin typeface="Arial Unicode MS"/>
                <a:ea typeface="Arial Unicode MS"/>
                <a:cs typeface="Arial Unicode MS"/>
              </a:rPr>
              <a:t>内部 Token</a:t>
            </a:r>
          </a:p>
        </p:txBody>
      </p:sp>
      <p:sp>
        <p:nvSpPr>
          <p:cNvPr id="58" name="环境内模型：算力、质量与内部额度">
            <a:extLst xmlns:a="http://schemas.openxmlformats.org/drawingml/2006/main">
              <a:ext uri="{FF2B5EF4-FFF2-40B4-BE49-F238E27FC236}">
                <a16:creationId xmlns:a16="http://schemas.microsoft.com/office/drawing/2014/main" id="{EC5754E6-67C7-461C-AB11-AE4B98C60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543800"/>
            <a:ext cx="36290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rPr>
              <a:t>环境内模型：算力、质量与内部额度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B49F397-CBA4-427D-B7D3-FB98FF85D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934200"/>
            <a:ext cx="3333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4EE"/>
            </a:solidFill>
          </a:ln>
        </p:spPr>
      </p:sp>
      <p:sp>
        <p:nvSpPr>
          <p:cNvPr id="60" name="TokenHub">
            <a:extLst xmlns:a="http://schemas.openxmlformats.org/drawingml/2006/main">
              <a:ext uri="{FF2B5EF4-FFF2-40B4-BE49-F238E27FC236}">
                <a16:creationId xmlns:a16="http://schemas.microsoft.com/office/drawing/2014/main" id="{F12F9DA3-313D-4EEC-99B0-68AB89724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7086600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3121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131212"/>
                </a:solidFill>
                <a:latin typeface="Arial Unicode MS"/>
                <a:ea typeface="Arial Unicode MS"/>
                <a:cs typeface="Arial Unicode MS"/>
              </a:rPr>
              <a:t>TokenHub</a:t>
            </a:r>
          </a:p>
        </p:txBody>
      </p:sp>
      <p:sp>
        <p:nvSpPr>
          <p:cNvPr id="61" name="按任务与数据策略路由">
            <a:extLst xmlns:a="http://schemas.openxmlformats.org/drawingml/2006/main">
              <a:ext uri="{FF2B5EF4-FFF2-40B4-BE49-F238E27FC236}">
                <a16:creationId xmlns:a16="http://schemas.microsoft.com/office/drawing/2014/main" id="{1DE59A49-12B0-4C03-A46E-15228F85B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7543800"/>
            <a:ext cx="2914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rPr>
              <a:t>按任务与数据策略路由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46919D2-F625-4CAB-98B1-EB8686563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6934200"/>
            <a:ext cx="3762375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4EE"/>
            </a:solidFill>
          </a:ln>
        </p:spPr>
      </p:sp>
      <p:sp>
        <p:nvSpPr>
          <p:cNvPr id="63" name="外部 Token · 可选">
            <a:extLst xmlns:a="http://schemas.openxmlformats.org/drawingml/2006/main">
              <a:ext uri="{FF2B5EF4-FFF2-40B4-BE49-F238E27FC236}">
                <a16:creationId xmlns:a16="http://schemas.microsoft.com/office/drawing/2014/main" id="{1072B016-A564-4E61-BAF6-92058B60E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9975" y="7086600"/>
            <a:ext cx="33432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3121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131212"/>
                </a:solidFill>
                <a:latin typeface="Arial Unicode MS"/>
                <a:ea typeface="Arial Unicode MS"/>
                <a:cs typeface="Arial Unicode MS"/>
              </a:rPr>
              <a:t>外部 Token · 可选</a:t>
            </a:r>
          </a:p>
        </p:txBody>
      </p:sp>
      <p:sp>
        <p:nvSpPr>
          <p:cNvPr id="64" name="外部 API：网络、授权与供应商额度">
            <a:extLst xmlns:a="http://schemas.openxmlformats.org/drawingml/2006/main">
              <a:ext uri="{FF2B5EF4-FFF2-40B4-BE49-F238E27FC236}">
                <a16:creationId xmlns:a16="http://schemas.microsoft.com/office/drawing/2014/main" id="{F4DDF19B-C85A-41C8-8CF5-A760F1AB6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9975" y="7543800"/>
            <a:ext cx="33432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rPr>
              <a:t>外部 API：网络、授权与供应商额度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39C1B95-962C-4622-9D74-BAF8F8955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7448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4700B2C-F2B4-43B2-B435-973AC11F9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7448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2" name=""/>
          <p:cNvCxnSpPr>
            <a:stCxn xmlns:a="http://schemas.openxmlformats.org/drawingml/2006/main" id="65" idx="1"/>
            <a:endCxn xmlns:a="http://schemas.openxmlformats.org/drawingml/2006/main" id="66" idx="3"/>
          </p:cNvCxnSpPr>
          <p:nvPr/>
        </p:nvCxnSpPr>
        <p:spPr>
          <a:xfrm xmlns:a="http://schemas.openxmlformats.org/drawingml/2006/main" flipH="1">
            <a:off x="4506278" y="7449027"/>
            <a:ext cx="1589722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4CFF"/>
            </a:solidFill>
            <a:prstDash val="solid"/>
            <a:tailEnd type="triangle" w="med" len="med"/>
          </a:ln>
        </p:spPr>
      </p:cxnSp>
      <p:sp>
        <p:nvSpPr>
          <p:cNvPr id="68" name="内部路由">
            <a:extLst xmlns:a="http://schemas.openxmlformats.org/drawingml/2006/main">
              <a:ext uri="{FF2B5EF4-FFF2-40B4-BE49-F238E27FC236}">
                <a16:creationId xmlns:a16="http://schemas.microsoft.com/office/drawing/2014/main" id="{59478332-0EA9-49E8-9A7A-69F8F9BFA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09612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34C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34CFF"/>
                </a:solidFill>
                <a:latin typeface="Arial Unicode MS"/>
                <a:ea typeface="Arial Unicode MS"/>
                <a:cs typeface="Arial Unicode MS"/>
              </a:rPr>
              <a:t>内部路由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3DCAE41-533F-462E-92D0-3352A1358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7448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E7F771B-AF63-42DA-A96A-12516E54B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7448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6" name=""/>
          <p:cNvCxnSpPr>
            <a:stCxn xmlns:a="http://schemas.openxmlformats.org/drawingml/2006/main" id="69" idx="3"/>
            <a:endCxn xmlns:a="http://schemas.openxmlformats.org/drawingml/2006/main" id="70" idx="1"/>
          </p:cNvCxnSpPr>
          <p:nvPr/>
        </p:nvCxnSpPr>
        <p:spPr>
          <a:xfrm xmlns:a="http://schemas.openxmlformats.org/drawingml/2006/main">
            <a:off x="9430703" y="7449027"/>
            <a:ext cx="1589722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4CFF"/>
            </a:solidFill>
            <a:prstDash val="solid"/>
            <a:tailEnd type="triangle" w="med" len="med"/>
          </a:ln>
        </p:spPr>
      </p:cxnSp>
      <p:sp>
        <p:nvSpPr>
          <p:cNvPr id="72" name="允许外发">
            <a:extLst xmlns:a="http://schemas.openxmlformats.org/drawingml/2006/main">
              <a:ext uri="{FF2B5EF4-FFF2-40B4-BE49-F238E27FC236}">
                <a16:creationId xmlns:a16="http://schemas.microsoft.com/office/drawing/2014/main" id="{A990014D-AED1-4E65-8A22-9AE878462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709612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34C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34CFF"/>
                </a:solidFill>
                <a:latin typeface="Arial Unicode MS"/>
                <a:ea typeface="Arial Unicode MS"/>
                <a:cs typeface="Arial Unicode MS"/>
              </a:rPr>
              <a:t>允许外发</a:t>
            </a:r>
          </a:p>
        </p:txBody>
      </p:sp>
      <p:sp>
        <p:nvSpPr>
          <p:cNvPr id="73" name="Token 为模型推理用量；非生成式专业模型按其接口与计量方">
            <a:extLst xmlns:a="http://schemas.openxmlformats.org/drawingml/2006/main">
              <a:ext uri="{FF2B5EF4-FFF2-40B4-BE49-F238E27FC236}">
                <a16:creationId xmlns:a16="http://schemas.microsoft.com/office/drawing/2014/main" id="{6B602505-0797-4138-9CFB-FFE3556EF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01000"/>
            <a:ext cx="1419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rPr>
              <a:t>Token 为模型推理用量；非生成式专业模型按其接口与计量方式接入。</a:t>
            </a:r>
          </a:p>
        </p:txBody>
      </p:sp>
      <p:sp>
        <p:nvSpPr>
          <p:cNvPr id="74" name="部署方式｜同一套平台能力，按方案确认适配">
            <a:extLst xmlns:a="http://schemas.openxmlformats.org/drawingml/2006/main">
              <a:ext uri="{FF2B5EF4-FFF2-40B4-BE49-F238E27FC236}">
                <a16:creationId xmlns:a16="http://schemas.microsoft.com/office/drawing/2014/main" id="{66A697E8-8B60-49EE-974F-E727C342C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82000"/>
            <a:ext cx="1419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3121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131212"/>
                </a:solidFill>
                <a:latin typeface="Arial Unicode MS"/>
                <a:ea typeface="Arial Unicode MS"/>
                <a:cs typeface="Arial Unicode MS"/>
              </a:rPr>
              <a:t>部署方式｜同一套平台能力，按方案确认适配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5575C5F-4A33-4DE3-B424-466364F83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848725"/>
            <a:ext cx="7029450" cy="127635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4EE"/>
            </a:solidFill>
          </a:ln>
        </p:spPr>
      </p:sp>
      <p:sp>
        <p:nvSpPr>
          <p:cNvPr id="76" name="SaaS｜平台运营的可信云环境">
            <a:extLst xmlns:a="http://schemas.openxmlformats.org/drawingml/2006/main">
              <a:ext uri="{FF2B5EF4-FFF2-40B4-BE49-F238E27FC236}">
                <a16:creationId xmlns:a16="http://schemas.microsoft.com/office/drawing/2014/main" id="{FE93D905-EC39-4A7E-8494-ECE0A37E0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001125"/>
            <a:ext cx="6610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3121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131212"/>
                </a:solidFill>
                <a:latin typeface="Arial Unicode MS"/>
                <a:ea typeface="Arial Unicode MS"/>
                <a:cs typeface="Arial Unicode MS"/>
              </a:rPr>
              <a:t>SaaS｜平台运营的可信云环境</a:t>
            </a:r>
          </a:p>
        </p:txBody>
      </p:sp>
      <p:sp>
        <p:nvSpPr>
          <p:cNvPr id="77" name="模型接入 · Agent 运行 · 应用集成 · 连接器 ·">
            <a:extLst xmlns:a="http://schemas.openxmlformats.org/drawingml/2006/main">
              <a:ext uri="{FF2B5EF4-FFF2-40B4-BE49-F238E27FC236}">
                <a16:creationId xmlns:a16="http://schemas.microsoft.com/office/drawing/2014/main" id="{B8C0D02A-0183-4418-B198-D641BB58E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458325"/>
            <a:ext cx="66103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rPr>
              <a:t>模型接入 · Agent 运行 · 应用集成 · 连接器 · 知识库 · 治理</a:t>
            </a:r>
          </a:p>
        </p:txBody>
      </p:sp>
      <p:sp>
        <p:nvSpPr>
          <p:cNvPr id="78" name="租户隔离 · 按授权连接企业系统 · 明确上云数据范围">
            <a:extLst xmlns:a="http://schemas.openxmlformats.org/drawingml/2006/main">
              <a:ext uri="{FF2B5EF4-FFF2-40B4-BE49-F238E27FC236}">
                <a16:creationId xmlns:a16="http://schemas.microsoft.com/office/drawing/2014/main" id="{A0E6FDBD-D77C-4945-B1C4-95BB90007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53600"/>
            <a:ext cx="66103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rPr>
              <a:t>租户隔离 · 按授权连接企业系统 · 明确上云数据范围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4AF1769-1D3C-420E-96DF-D394DE2D7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8848725"/>
            <a:ext cx="7029450" cy="127635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4EE"/>
            </a:solidFill>
          </a:ln>
        </p:spPr>
      </p:sp>
      <p:sp>
        <p:nvSpPr>
          <p:cNvPr id="80" name="私有化一体机｜客户侧可信环境">
            <a:extLst xmlns:a="http://schemas.openxmlformats.org/drawingml/2006/main">
              <a:ext uri="{FF2B5EF4-FFF2-40B4-BE49-F238E27FC236}">
                <a16:creationId xmlns:a16="http://schemas.microsoft.com/office/drawing/2014/main" id="{B5674097-789C-450A-ADDB-0A465412A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9001125"/>
            <a:ext cx="6610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3121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131212"/>
                </a:solidFill>
                <a:latin typeface="Arial Unicode MS"/>
                <a:ea typeface="Arial Unicode MS"/>
                <a:cs typeface="Arial Unicode MS"/>
              </a:rPr>
              <a:t>私有化一体机｜客户侧可信环境</a:t>
            </a:r>
          </a:p>
        </p:txBody>
      </p:sp>
      <p:sp>
        <p:nvSpPr>
          <p:cNvPr id="81" name="模型接入 · Agent 运行 · 应用集成 · 连接器 ·">
            <a:extLst xmlns:a="http://schemas.openxmlformats.org/drawingml/2006/main">
              <a:ext uri="{FF2B5EF4-FFF2-40B4-BE49-F238E27FC236}">
                <a16:creationId xmlns:a16="http://schemas.microsoft.com/office/drawing/2014/main" id="{9640B1A1-037D-419A-BCC6-533EA3FE6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9458325"/>
            <a:ext cx="66103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rPr>
              <a:t>模型接入 · Agent 运行 · 应用集成 · 连接器 · 知识库 · 治理</a:t>
            </a:r>
          </a:p>
        </p:txBody>
      </p:sp>
      <p:sp>
        <p:nvSpPr>
          <p:cNvPr id="82" name="按配置部署模型与组件 · 可仅用内部模型，关闭外部通道">
            <a:extLst xmlns:a="http://schemas.openxmlformats.org/drawingml/2006/main">
              <a:ext uri="{FF2B5EF4-FFF2-40B4-BE49-F238E27FC236}">
                <a16:creationId xmlns:a16="http://schemas.microsoft.com/office/drawing/2014/main" id="{0B3028A6-19E0-4576-A7EE-7C8E818D7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9753600"/>
            <a:ext cx="66103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rPr>
              <a:t>按配置部署模型与组件 · 可仅用内部模型，关闭外部通道</a:t>
            </a:r>
          </a:p>
        </p:txBody>
      </p:sp>
      <p:sp>
        <p:nvSpPr>
          <p:cNvPr id="83" name="SaaS 平台 ≠ 外部模型 API；私有化也可按策略使用外">
            <a:extLst xmlns:a="http://schemas.openxmlformats.org/drawingml/2006/main">
              <a:ext uri="{FF2B5EF4-FFF2-40B4-BE49-F238E27FC236}">
                <a16:creationId xmlns:a16="http://schemas.microsoft.com/office/drawing/2014/main" id="{8A675198-4284-409E-BCF6-47ECC7234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20325"/>
            <a:ext cx="1419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rPr>
              <a:t>SaaS 平台 ≠ 外部模型 API；私有化也可按策略使用外部模型。部署支持以适配结果为准。</a:t>
            </a:r>
          </a:p>
        </p:txBody>
      </p:sp>
      <p:sp>
        <p:nvSpPr>
          <p:cNvPr id="84" name="业务可信：评测、溯源、复核    ｜    数据安全可信：可">
            <a:extLst xmlns:a="http://schemas.openxmlformats.org/drawingml/2006/main">
              <a:ext uri="{FF2B5EF4-FFF2-40B4-BE49-F238E27FC236}">
                <a16:creationId xmlns:a16="http://schemas.microsoft.com/office/drawing/2014/main" id="{666293F0-26CD-447E-B105-B2EE266A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582275"/>
            <a:ext cx="1419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3121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31212"/>
                </a:solidFill>
                <a:latin typeface="Arial Unicode MS"/>
                <a:ea typeface="Arial Unicode MS"/>
                <a:cs typeface="Arial Unicode MS"/>
              </a:rPr>
              <a:t>业务可信：评测、溯源、复核    ｜    数据安全可信：可信环境、最小权限、数据边界</a:t>
            </a:r>
          </a:p>
        </p:txBody>
      </p:sp>
      <p:sp>
        <p:nvSpPr>
          <p:cNvPr id="85" name="虚线：评测与接入流程；蓝色实线：调用请求（响应省略）。厂商仅">
            <a:extLst xmlns:a="http://schemas.openxmlformats.org/drawingml/2006/main">
              <a:ext uri="{FF2B5EF4-FFF2-40B4-BE49-F238E27FC236}">
                <a16:creationId xmlns:a16="http://schemas.microsoft.com/office/drawing/2014/main" id="{C28403EF-7E10-4BE6-B64D-11413ECC9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01375"/>
            <a:ext cx="1419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5E5E66"/>
                </a:solidFill>
                <a:latin typeface="Arial Unicode MS"/>
                <a:ea typeface="Arial Unicode MS"/>
                <a:cs typeface="Arial Unicode MS"/>
              </a:rPr>
              <a:t>虚线：评测与接入流程；蓝色实线：调用请求（响应省略）。厂商仅为候选示例，不表示已合作或接入。</a:t>
            </a:r>
          </a:p>
        </p:txBody>
      </p:sp>
    </p:spTree>
    <p:extLst>
      <p:ext uri="{BB962C8B-B14F-4D97-AF65-F5344CB8AC3E}">
        <p14:creationId xmlns:p14="http://schemas.microsoft.com/office/powerpoint/2010/main" val="21102278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2026-09-29T04:42:23.5530000Z</dcterms:created>
  <dcterms:modified xsi:type="dcterms:W3CDTF">2026-09-29T04:42:23.5530000Z</dcterms:modified>
</coreProperties>
</file>